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5" r:id="rId4"/>
    <p:sldMasterId id="2147483767" r:id="rId5"/>
  </p:sldMasterIdLst>
  <p:notesMasterIdLst>
    <p:notesMasterId r:id="rId21"/>
  </p:notesMasterIdLst>
  <p:handoutMasterIdLst>
    <p:handoutMasterId r:id="rId22"/>
  </p:handoutMasterIdLst>
  <p:sldIdLst>
    <p:sldId id="281" r:id="rId6"/>
    <p:sldId id="364" r:id="rId7"/>
    <p:sldId id="366" r:id="rId8"/>
    <p:sldId id="367" r:id="rId9"/>
    <p:sldId id="371" r:id="rId10"/>
    <p:sldId id="368" r:id="rId11"/>
    <p:sldId id="370" r:id="rId12"/>
    <p:sldId id="372" r:id="rId13"/>
    <p:sldId id="375" r:id="rId14"/>
    <p:sldId id="374" r:id="rId15"/>
    <p:sldId id="376" r:id="rId16"/>
    <p:sldId id="373" r:id="rId17"/>
    <p:sldId id="377" r:id="rId18"/>
    <p:sldId id="378" r:id="rId19"/>
    <p:sldId id="379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60" userDrawn="1">
          <p15:clr>
            <a:srgbClr val="A4A3A4"/>
          </p15:clr>
        </p15:guide>
        <p15:guide id="2" pos="7392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941E1CDA-70F4-A39C-22C9-32BCEE08AA34}" name="Timothé PRESLES" initials="TP" userId="70e5b3ca4c3fa9f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53" autoAdjust="0"/>
    <p:restoredTop sz="94660"/>
  </p:normalViewPr>
  <p:slideViewPr>
    <p:cSldViewPr snapToGrid="0">
      <p:cViewPr varScale="1">
        <p:scale>
          <a:sx n="95" d="100"/>
          <a:sy n="95" d="100"/>
        </p:scale>
        <p:origin x="144" y="72"/>
      </p:cViewPr>
      <p:guideLst>
        <p:guide pos="360"/>
        <p:guide pos="739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80"/>
    </p:cViewPr>
  </p:sorterViewPr>
  <p:notesViewPr>
    <p:cSldViewPr snapToGrid="0">
      <p:cViewPr varScale="1">
        <p:scale>
          <a:sx n="88" d="100"/>
          <a:sy n="88" d="100"/>
        </p:scale>
        <p:origin x="37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handoutMaster" Target="handoutMasters/handoutMaster1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>
            <a:extLst>
              <a:ext uri="{FF2B5EF4-FFF2-40B4-BE49-F238E27FC236}">
                <a16:creationId xmlns:a16="http://schemas.microsoft.com/office/drawing/2014/main" id="{9EB018AA-DEA7-448F-AE2F-C3D13A0F02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FB87A71-96EB-4108-95A3-855A4C3601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0F003DB-7B2B-4CB0-9AE3-FF3A4D289880}" type="datetime1">
              <a:rPr lang="fr-FR" smtClean="0"/>
              <a:t>10/11/2025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445591A-E83D-4F8A-B064-12B29D3154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7AF2308-535F-471C-9423-3467454C92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661E857-36B8-43F1-9D87-FE508167BC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02314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1544E0-8A55-4B60-9503-EB1D794761A2}" type="datetime1">
              <a:rPr lang="fr-FR" smtClean="0"/>
              <a:pPr/>
              <a:t>09/11/2025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 dirty="0"/>
              <a:t>Modifiez les styles du texte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CFAAAB6-A2C6-4A85-A3A1-98EFBA61C967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7675299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b="0" i="0">
              <a:effectLst/>
              <a:latin typeface="Segoe UI" panose="020B0502040204020203" pitchFamily="34" charset="0"/>
            </a:endParaRPr>
          </a:p>
          <a:p>
            <a:pPr rtl="0"/>
            <a:r>
              <a:rPr lang="fr-FR"/>
              <a:t>ID=d924773e-9a16-4d6d-9803-8cb819e99682
Recipe=text_billboard
Type=TextOnly
Variant=0
FamilyID=AccentBoxWalbaum_Zero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AA36B1-75F6-458C-B388-8BC01E9857C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320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FAAAB6-A2C6-4A85-A3A1-98EFBA61C967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9140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FAAAB6-A2C6-4A85-A3A1-98EFBA61C967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52637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FAAAB6-A2C6-4A85-A3A1-98EFBA61C967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5818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FAAAB6-A2C6-4A85-A3A1-98EFBA61C967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43546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FAAAB6-A2C6-4A85-A3A1-98EFBA61C967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08211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FAAAB6-A2C6-4A85-A3A1-98EFBA61C967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4483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FAAAB6-A2C6-4A85-A3A1-98EFBA61C967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31353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FAAAB6-A2C6-4A85-A3A1-98EFBA61C967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21971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FAAAB6-A2C6-4A85-A3A1-98EFBA61C967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99791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FAAAB6-A2C6-4A85-A3A1-98EFBA61C967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11747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FAAAB6-A2C6-4A85-A3A1-98EFBA61C967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46209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FAAAB6-A2C6-4A85-A3A1-98EFBA61C967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8353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FAAAB6-A2C6-4A85-A3A1-98EFBA61C967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89438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FAAAB6-A2C6-4A85-A3A1-98EFBA61C967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3644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5CE34C-5F30-E004-14A3-31D1834D9A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F3B508D-056E-A031-BE11-68A3B929E2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D5F4B2D-4873-E79E-EAB8-60C959BD3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CEB141D-F63B-9477-714D-595FA0742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3B2392C-ADB0-8691-60E8-C8F5554B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515EDB0-FAFA-4746-7357-155E62EB3FFD}"/>
              </a:ext>
            </a:extLst>
          </p:cNvPr>
          <p:cNvSpPr/>
          <p:nvPr userDrawn="1"/>
        </p:nvSpPr>
        <p:spPr>
          <a:xfrm>
            <a:off x="1528762" y="1473243"/>
            <a:ext cx="9144000" cy="3007447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6263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D9C881-77FF-26A0-B0AA-2FC95B078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991141-EDE7-A3CD-CE98-782E7397B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B1A796-BFB7-13D0-FAA9-57F976C50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A3FED8-5DAD-9082-20A7-A57D4001A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3415A8-E492-CC66-D38A-26907BFAC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fr-FR" noProof="0" smtClean="0"/>
              <a:t>‹N°›</a:t>
            </a:fld>
            <a:endParaRPr lang="fr-FR" noProof="0"/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9EB9BA3-670F-E1B8-D5DA-F904B4635745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6437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50855C-1B31-1055-96D7-82245BB06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65CF74A-66CC-06B1-8420-E640DBA0D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24BD00-8378-7177-8D50-8966F5CE6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A4298C-7D08-C318-6B67-73281EFD3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F6BFCD-D9DC-938B-F165-129DC84A5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765614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D45C2E-9454-04B9-A8C8-10405663C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B05C44-B545-AEBF-1B4F-8771F4E164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8115737-6BD0-C700-E4A1-4B2E02B1F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0B11FC4-499A-9EA8-CE94-ED7819B4A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6B5B2F9-BE54-00E3-91D8-0E10F9FB7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6F48220-FC9B-A5FE-DBF1-34814A706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28170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CBABCA-DE77-7187-FB7E-0D5EBDB77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CDF2416-216B-E802-7954-FAC3C5858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9971238-A972-49CC-B8C5-FC09832E61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9A290E1-CCF6-CF8A-00FC-58FCC8DABE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224C32D-A68A-7DEB-533C-E8B6036CA9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82ECAC3-D69A-2607-E8DA-DCC600F10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66BF325-7B41-38A3-BAAB-4C65877D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AD87668-C539-1781-48EC-328A7E027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106960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FE1237-F2C1-64BA-0F60-8BC681BE1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CAB3C96-8ADE-FCD6-9A17-65087499A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E7BF9AD-E4BD-D8BE-3E57-4EA56D3AC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6EF205-F7F3-DF8B-E6E9-FFC521E3E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880802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6F6683A-B009-4274-F206-6CCCF7541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E7822D1-213D-9F07-EF83-21D7CA974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C3113B4-6829-B8A2-9D39-88F3CC3EE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414279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CA20D5-100C-5335-6F0B-B8A24D905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DAA762-30E0-588E-3387-3DD9FBAFF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E44C36D-944F-2F35-1974-0296C00D0A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67E3084-4434-D426-FA7A-213933A44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6AB7BDB-390E-CB5E-0D42-164ECBA8E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5EDE1D2-9365-F56B-849D-09F538A0B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253126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35A03A-076B-4A8E-D36B-E1474453B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FD269B6-5229-6F55-F69C-EF6DE651AE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6C56D6B-B727-0B62-29C8-E7D3C3770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F032E54-6FA9-FB3F-AA20-D8BC7F6BB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1A02D08-338E-55F0-509D-5CB4D5EE7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0DB6354-9DBD-6234-09C1-562480AA5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085823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634547-EA7D-828A-EAD8-188C5685F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D23270B-07FA-6E7F-6EA6-0A37D084F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0BD5E68-1613-D5AB-B838-87907C424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BEB3D9-6C7B-BAF2-6D01-B39C921EB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866041-11AD-124F-036E-85912BD43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10881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DB4A5FE-492B-6FA2-7AF9-32EEBD274D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F5DC435-401E-A167-DB53-846B39085C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F710F01-C33F-D85D-7F46-E3D50047E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03F045-DD90-E6D3-F4B2-C0C445F9F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71219BB-D61C-2BC1-EFEB-2D0393400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617719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5CE34C-5F30-E004-14A3-31D1834D9A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F3B508D-056E-A031-BE11-68A3B929E2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D5F4B2D-4873-E79E-EAB8-60C959BD3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CEB141D-F63B-9477-714D-595FA0742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3B2392C-ADB0-8691-60E8-C8F5554B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515EDB0-FAFA-4746-7357-155E62EB3FFD}"/>
              </a:ext>
            </a:extLst>
          </p:cNvPr>
          <p:cNvSpPr/>
          <p:nvPr userDrawn="1"/>
        </p:nvSpPr>
        <p:spPr>
          <a:xfrm>
            <a:off x="1528762" y="1473243"/>
            <a:ext cx="9144000" cy="3007447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21880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D9C881-77FF-26A0-B0AA-2FC95B078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991141-EDE7-A3CD-CE98-782E7397B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B1A796-BFB7-13D0-FAA9-57F976C50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A3FED8-5DAD-9082-20A7-A57D4001A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3415A8-E492-CC66-D38A-26907BFAC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fr-FR" noProof="0" smtClean="0"/>
              <a:t>‹N°›</a:t>
            </a:fld>
            <a:endParaRPr lang="fr-FR" noProof="0"/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9EB9BA3-670F-E1B8-D5DA-F904B4635745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69847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50855C-1B31-1055-96D7-82245BB06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65CF74A-66CC-06B1-8420-E640DBA0D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24BD00-8378-7177-8D50-8966F5CE6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A4298C-7D08-C318-6B67-73281EFD3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F6BFCD-D9DC-938B-F165-129DC84A5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2628415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D45C2E-9454-04B9-A8C8-10405663C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B05C44-B545-AEBF-1B4F-8771F4E164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8115737-6BD0-C700-E4A1-4B2E02B1F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0B11FC4-499A-9EA8-CE94-ED7819B4A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6B5B2F9-BE54-00E3-91D8-0E10F9FB7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6F48220-FC9B-A5FE-DBF1-34814A706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4097880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CBABCA-DE77-7187-FB7E-0D5EBDB77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CDF2416-216B-E802-7954-FAC3C5858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9971238-A972-49CC-B8C5-FC09832E61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9A290E1-CCF6-CF8A-00FC-58FCC8DABE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224C32D-A68A-7DEB-533C-E8B6036CA9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82ECAC3-D69A-2607-E8DA-DCC600F10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66BF325-7B41-38A3-BAAB-4C65877D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AD87668-C539-1781-48EC-328A7E027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5971700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FE1237-F2C1-64BA-0F60-8BC681BE1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CAB3C96-8ADE-FCD6-9A17-65087499A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E7BF9AD-E4BD-D8BE-3E57-4EA56D3AC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6EF205-F7F3-DF8B-E6E9-FFC521E3E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0016420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6F6683A-B009-4274-F206-6CCCF7541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E7822D1-213D-9F07-EF83-21D7CA974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C3113B4-6829-B8A2-9D39-88F3CC3EE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2127898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CA20D5-100C-5335-6F0B-B8A24D905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DAA762-30E0-588E-3387-3DD9FBAFF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E44C36D-944F-2F35-1974-0296C00D0A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67E3084-4434-D426-FA7A-213933A44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6AB7BDB-390E-CB5E-0D42-164ECBA8E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5EDE1D2-9365-F56B-849D-09F538A0B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7532026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35A03A-076B-4A8E-D36B-E1474453B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FD269B6-5229-6F55-F69C-EF6DE651AE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6C56D6B-B727-0B62-29C8-E7D3C3770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F032E54-6FA9-FB3F-AA20-D8BC7F6BB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1A02D08-338E-55F0-509D-5CB4D5EE7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0DB6354-9DBD-6234-09C1-562480AA5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529240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634547-EA7D-828A-EAD8-188C5685F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D23270B-07FA-6E7F-6EA6-0A37D084F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0BD5E68-1613-D5AB-B838-87907C424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BEB3D9-6C7B-BAF2-6D01-B39C921EB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866041-11AD-124F-036E-85912BD43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241982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DB4A5FE-492B-6FA2-7AF9-32EEBD274D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F5DC435-401E-A167-DB53-846B39085C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F710F01-C33F-D85D-7F46-E3D50047E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03F045-DD90-E6D3-F4B2-C0C445F9F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71219BB-D61C-2BC1-EFEB-2D0393400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5A5C87-DF58-40C8-B092-1DE63DB4547E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8208520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 avec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72784" cy="1536192"/>
          </a:xfrm>
        </p:spPr>
        <p:txBody>
          <a:bodyPr rtlCol="0" anchor="b">
            <a:normAutofit/>
          </a:bodyPr>
          <a:lstStyle>
            <a:lvl1pPr>
              <a:defRPr sz="5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 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2648" y="3355848"/>
            <a:ext cx="6272784" cy="2825496"/>
          </a:xfrm>
        </p:spPr>
        <p:txBody>
          <a:bodyPr rtlCol="0"/>
          <a:lstStyle>
            <a:lvl1pPr marL="0" indent="0">
              <a:buNone/>
              <a:defRPr sz="1800"/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05272" y="6356350"/>
            <a:ext cx="128016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EEEC07-DA87-4415-8D6B-72E1B2686535}"/>
              </a:ext>
            </a:extLst>
          </p:cNvPr>
          <p:cNvSpPr/>
          <p:nvPr userDrawn="1"/>
        </p:nvSpPr>
        <p:spPr>
          <a:xfrm rot="5400000">
            <a:off x="850392" y="36576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Espace réservé d’image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80960" y="4352544"/>
            <a:ext cx="4507992" cy="250545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10" name="Espace réservé d’image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80960" y="0"/>
            <a:ext cx="4507992" cy="4123944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FA3CC7-31ED-4E5A-87A6-AA1D8F4251FC}"/>
              </a:ext>
            </a:extLst>
          </p:cNvPr>
          <p:cNvSpPr/>
          <p:nvPr userDrawn="1"/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2226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18D46A8-5107-3455-782C-6A1ABF3BD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6C4AD2E-E0B2-0A1C-0827-35401052F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840631-944B-7069-8361-1656522CBB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3DAA6A3-976A-35E7-51FC-E5454BA932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855778-8E2B-7450-C7A5-9322B30857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A65A5C87-DF58-40C8-B092-1DE63DB4547E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8265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18D46A8-5107-3455-782C-6A1ABF3BD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6C4AD2E-E0B2-0A1C-0827-35401052F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840631-944B-7069-8361-1656522CBB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3DAA6A3-976A-35E7-51FC-E5454BA932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855778-8E2B-7450-C7A5-9322B30857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A65A5C87-DF58-40C8-B092-1DE63DB4547E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458665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80D9D20-B4BB-42AA-8DDD-68CC9F1D95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 rtlCol="0">
            <a:normAutofit/>
          </a:bodyPr>
          <a:lstStyle/>
          <a:p>
            <a:pPr algn="l" rtl="0"/>
            <a:r>
              <a:rPr lang="fr-FR" sz="4800" dirty="0">
                <a:solidFill>
                  <a:srgbClr val="FFFFFF"/>
                </a:solidFill>
              </a:rPr>
              <a:t>Théorie de l’information quantique</a:t>
            </a:r>
          </a:p>
        </p:txBody>
      </p:sp>
      <p:sp>
        <p:nvSpPr>
          <p:cNvPr id="44" name="Rectangle 3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D9E8FDB-60EE-45AE-BB89-9A561A61C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 rtlCol="0">
            <a:normAutofit/>
          </a:bodyPr>
          <a:lstStyle/>
          <a:p>
            <a:pPr algn="l" rtl="0"/>
            <a:r>
              <a:rPr lang="fr-FR" dirty="0">
                <a:solidFill>
                  <a:srgbClr val="FFFFFF"/>
                </a:solidFill>
              </a:rPr>
              <a:t>Timothé Presles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88553C1-67E6-D09B-15F2-0B1AFA47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373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3" name="Rectangle 105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9501C14-7F4D-4D43-AB31-14E1B4AA1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Sommaire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C59246-61F9-4344-994B-CAC75B954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65A5C87-DF58-40C8-B092-1DE63DB4547E}" type="slidenum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8B06FF08-3B64-874F-7DD8-42547CB97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334" y="2195792"/>
            <a:ext cx="5835666" cy="3660185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fr-FR" sz="2400" b="1" dirty="0"/>
              <a:t>Formalisme mathématique</a:t>
            </a:r>
          </a:p>
          <a:p>
            <a:pPr marL="1143000" lvl="1" indent="-457200">
              <a:buFont typeface="+mj-lt"/>
              <a:buAutoNum type="arabicPeriod"/>
            </a:pPr>
            <a:r>
              <a:rPr lang="fr-FR" sz="2000" dirty="0"/>
              <a:t>Espaces de Hilbert et notation de Dirac</a:t>
            </a:r>
          </a:p>
          <a:p>
            <a:pPr marL="1143000" lvl="1" indent="-457200">
              <a:buFont typeface="+mj-lt"/>
              <a:buAutoNum type="arabicPeriod"/>
            </a:pPr>
            <a:r>
              <a:rPr lang="fr-FR" sz="2000" dirty="0"/>
              <a:t>Sphère de Bloch</a:t>
            </a:r>
          </a:p>
          <a:p>
            <a:pPr marL="1143000" lvl="1" indent="-457200">
              <a:buFont typeface="+mj-lt"/>
              <a:buAutoNum type="arabicPeriod"/>
            </a:pPr>
            <a:r>
              <a:rPr lang="fr-FR" sz="2000" dirty="0"/>
              <a:t>Matrices de densité et états mixtes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400" b="1" dirty="0"/>
              <a:t>Puissance de calcul théorique</a:t>
            </a:r>
          </a:p>
          <a:p>
            <a:pPr marL="1143000" lvl="1" indent="-457200">
              <a:buFont typeface="+mj-lt"/>
              <a:buAutoNum type="arabicPeriod"/>
            </a:pPr>
            <a:r>
              <a:rPr lang="fr-FR" sz="2000" dirty="0"/>
              <a:t>Complexité algorithmique</a:t>
            </a:r>
          </a:p>
          <a:p>
            <a:pPr marL="1143000" lvl="1" indent="-457200">
              <a:buFont typeface="+mj-lt"/>
              <a:buAutoNum type="arabicPeriod"/>
            </a:pPr>
            <a:r>
              <a:rPr lang="fr-FR" sz="2000" dirty="0"/>
              <a:t>Machines de calcul non-déterministes</a:t>
            </a:r>
            <a:endParaRPr lang="fr-FR" b="1" dirty="0"/>
          </a:p>
          <a:p>
            <a:pPr marL="1143000" lvl="1" indent="-457200">
              <a:buFont typeface="+mj-lt"/>
              <a:buAutoNum type="arabicPeriod"/>
            </a:pPr>
            <a:r>
              <a:rPr lang="fr-FR" sz="2000" dirty="0"/>
              <a:t>Notion d’avantage quantique</a:t>
            </a:r>
          </a:p>
        </p:txBody>
      </p:sp>
      <p:pic>
        <p:nvPicPr>
          <p:cNvPr id="7170" name="Picture 2" descr="The Quantum Superposition Principle and Bloch Sphere Representation |  SpringerLink">
            <a:extLst>
              <a:ext uri="{FF2B5EF4-FFF2-40B4-BE49-F238E27FC236}">
                <a16:creationId xmlns:a16="http://schemas.microsoft.com/office/drawing/2014/main" id="{C44ADB73-4AAE-4F3D-0128-D73D6D081E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5017" y="2537410"/>
            <a:ext cx="4467235" cy="3097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731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3" name="Rectangle 105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9501C14-7F4D-4D43-AB31-14E1B4AA1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Formalisme mathématique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C59246-61F9-4344-994B-CAC75B954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65A5C87-DF58-40C8-B092-1DE63DB4547E}" type="slidenum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8B06FF08-3B64-874F-7DD8-42547CB97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233" y="2118156"/>
            <a:ext cx="6994483" cy="4015225"/>
          </a:xfrm>
        </p:spPr>
        <p:txBody>
          <a:bodyPr vert="horz" lIns="91440" tIns="45720" rIns="91440" bIns="45720" rtlCol="0" anchor="ctr">
            <a:noAutofit/>
          </a:bodyPr>
          <a:lstStyle/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sz="2400" u="sng" dirty="0"/>
              <a:t>Rappel sur les systèmes quantiques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-"/>
            </a:pPr>
            <a:r>
              <a:rPr lang="fr-FR" sz="2000" b="1" dirty="0"/>
              <a:t>Définition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1600" b="1" dirty="0"/>
              <a:t>Ensemble</a:t>
            </a:r>
            <a:r>
              <a:rPr lang="fr-FR" sz="1600" dirty="0"/>
              <a:t> </a:t>
            </a:r>
            <a:r>
              <a:rPr lang="fr-FR" sz="1600" i="1" dirty="0"/>
              <a:t>(possiblement infini) </a:t>
            </a:r>
            <a:r>
              <a:rPr lang="fr-FR" sz="1600" b="1" dirty="0"/>
              <a:t>d’états </a:t>
            </a:r>
            <a:r>
              <a:rPr lang="fr-FR" sz="1600" dirty="0"/>
              <a:t>superposés</a:t>
            </a:r>
            <a:endParaRPr lang="fr-FR" sz="1600" b="1" dirty="0"/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1600" dirty="0"/>
              <a:t>Chaque état à une </a:t>
            </a:r>
            <a:r>
              <a:rPr lang="fr-FR" sz="1600" b="1" dirty="0"/>
              <a:t>probabilité de mesure</a:t>
            </a:r>
            <a:r>
              <a:rPr lang="fr-FR" sz="1600" dirty="0"/>
              <a:t>. La somme des probabilités de mesure vaut 1.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1600" dirty="0"/>
              <a:t>Un système quantique est caractérisé par une </a:t>
            </a:r>
            <a:r>
              <a:rPr lang="fr-FR" sz="1600" b="1" dirty="0"/>
              <a:t>fonction d’onde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-"/>
            </a:pPr>
            <a:r>
              <a:rPr lang="fr-FR" sz="2000" b="1" dirty="0"/>
              <a:t>Fonction d’onde</a:t>
            </a:r>
            <a:endParaRPr lang="fr-FR" sz="2000" dirty="0"/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1600" dirty="0"/>
              <a:t>Caractérisé par une </a:t>
            </a:r>
            <a:r>
              <a:rPr lang="fr-FR" sz="1600" b="1" dirty="0"/>
              <a:t>amplitude </a:t>
            </a:r>
            <a:r>
              <a:rPr lang="fr-FR" sz="1600" dirty="0"/>
              <a:t>et une </a:t>
            </a:r>
            <a:r>
              <a:rPr lang="fr-FR" sz="1600" b="1" dirty="0"/>
              <a:t>phase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1600" dirty="0"/>
              <a:t>Une fonction d’onde peut prendre un </a:t>
            </a:r>
            <a:r>
              <a:rPr lang="fr-FR" sz="1600" b="1" dirty="0"/>
              <a:t>nombre d’états infini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sz="1600" b="1" dirty="0"/>
              <a:t>Quantification </a:t>
            </a:r>
            <a:r>
              <a:rPr lang="fr-FR" sz="1600" i="1" dirty="0"/>
              <a:t>(quantization)</a:t>
            </a:r>
            <a:r>
              <a:rPr lang="fr-FR" sz="1600" b="1" dirty="0"/>
              <a:t> : Réduction du nombre d’états </a:t>
            </a:r>
            <a:r>
              <a:rPr lang="fr-FR" sz="1600" dirty="0"/>
              <a:t>pris par la fonction d’onde à un </a:t>
            </a:r>
            <a:r>
              <a:rPr lang="fr-FR" sz="1600" b="1" dirty="0"/>
              <a:t>nombre</a:t>
            </a:r>
            <a:r>
              <a:rPr lang="fr-FR" sz="1600" dirty="0"/>
              <a:t> </a:t>
            </a:r>
            <a:r>
              <a:rPr lang="fr-FR" sz="1600" b="1" dirty="0"/>
              <a:t>fini.</a:t>
            </a:r>
            <a:endParaRPr lang="fr-FR" sz="2000" b="1" dirty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D91B3F13-45F2-FBA0-1BD8-6013D4EC1FFD}"/>
              </a:ext>
            </a:extLst>
          </p:cNvPr>
          <p:cNvSpPr txBox="1">
            <a:spLocks/>
          </p:cNvSpPr>
          <p:nvPr/>
        </p:nvSpPr>
        <p:spPr>
          <a:xfrm>
            <a:off x="8428131" y="140152"/>
            <a:ext cx="3506452" cy="13910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400" i="1" dirty="0">
                <a:solidFill>
                  <a:srgbClr val="FFFFFF"/>
                </a:solidFill>
              </a:rPr>
              <a:t>Espaces de Hilbert et notation de Dirac</a:t>
            </a:r>
          </a:p>
        </p:txBody>
      </p:sp>
      <p:pic>
        <p:nvPicPr>
          <p:cNvPr id="8194" name="Picture 2" descr="Vibrational quantities - Quantum versus Classical description">
            <a:extLst>
              <a:ext uri="{FF2B5EF4-FFF2-40B4-BE49-F238E27FC236}">
                <a16:creationId xmlns:a16="http://schemas.microsoft.com/office/drawing/2014/main" id="{B50AA5F5-118C-7971-D17A-DF0D05F75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8131" y="4290070"/>
            <a:ext cx="2863846" cy="2080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Phase Shift Calculator">
            <a:extLst>
              <a:ext uri="{FF2B5EF4-FFF2-40B4-BE49-F238E27FC236}">
                <a16:creationId xmlns:a16="http://schemas.microsoft.com/office/drawing/2014/main" id="{CB4750F2-24F0-F3D9-74C3-DE0948FDE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1716" y="1993637"/>
            <a:ext cx="3705556" cy="188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3211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3" name="Rectangle 105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9501C14-7F4D-4D43-AB31-14E1B4AA1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Formalisme mathématique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C59246-61F9-4344-994B-CAC75B954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65A5C87-DF58-40C8-B092-1DE63DB4547E}" type="slidenum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ce réservé du contenu 2">
                <a:extLst>
                  <a:ext uri="{FF2B5EF4-FFF2-40B4-BE49-F238E27FC236}">
                    <a16:creationId xmlns:a16="http://schemas.microsoft.com/office/drawing/2014/main" id="{8B06FF08-3B64-874F-7DD8-42547CB978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7233" y="2118156"/>
                <a:ext cx="7375771" cy="4015225"/>
              </a:xfrm>
            </p:spPr>
            <p:txBody>
              <a:bodyPr vert="horz" lIns="91440" tIns="45720" rIns="91440" bIns="45720" rtlCol="0" anchor="ctr">
                <a:noAutofit/>
              </a:bodyPr>
              <a:lstStyle/>
              <a:p>
                <a:pPr indent="-2286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fr-FR" sz="2400" u="sng" dirty="0"/>
                  <a:t>Notion de qubit</a:t>
                </a:r>
              </a:p>
              <a:p>
                <a:pPr lvl="1">
                  <a:lnSpc>
                    <a:spcPct val="100000"/>
                  </a:lnSpc>
                  <a:buFont typeface="Arial" panose="020B0604020202020204" pitchFamily="34" charset="0"/>
                  <a:buChar char="-"/>
                </a:pPr>
                <a:r>
                  <a:rPr lang="fr-FR" sz="2000" b="1" dirty="0"/>
                  <a:t>Système quantique à deux états</a:t>
                </a:r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dirty="0"/>
                  <a:t>Fonction d’onde </a:t>
                </a:r>
                <a:r>
                  <a:rPr lang="fr-FR" sz="1600" b="1" dirty="0"/>
                  <a:t>quantifiée en deux états</a:t>
                </a:r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b="1" dirty="0"/>
                  <a:t>Analogue au bit </a:t>
                </a:r>
                <a:r>
                  <a:rPr lang="fr-FR" sz="1600" dirty="0"/>
                  <a:t>en informatique classique</a:t>
                </a:r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dirty="0"/>
                  <a:t>Chaque état est défini par une paire </a:t>
                </a:r>
                <a:r>
                  <a:rPr lang="fr-FR" sz="1600" b="1" dirty="0"/>
                  <a:t>d’amplitudes complexes</a:t>
                </a:r>
              </a:p>
              <a:p>
                <a:pPr lvl="1">
                  <a:lnSpc>
                    <a:spcPct val="100000"/>
                  </a:lnSpc>
                  <a:buFont typeface="Arial" panose="020B0604020202020204" pitchFamily="34" charset="0"/>
                  <a:buChar char="-"/>
                </a:pPr>
                <a:r>
                  <a:rPr lang="fr-FR" sz="2000" b="1" dirty="0"/>
                  <a:t>Système de coordonnées</a:t>
                </a:r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dirty="0"/>
                  <a:t>On associe </a:t>
                </a:r>
                <a:r>
                  <a:rPr lang="fr-FR" sz="1600" b="1" dirty="0"/>
                  <a:t>un état </a:t>
                </a:r>
                <a:r>
                  <a:rPr lang="fr-FR" sz="1600" dirty="0"/>
                  <a:t>à chacune des deux amplitudes complexes.</a:t>
                </a:r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b="1" dirty="0"/>
                  <a:t>Par convention </a:t>
                </a:r>
                <a:r>
                  <a:rPr lang="fr-FR" sz="1600" dirty="0"/>
                  <a:t>et par analogie au bit</a:t>
                </a:r>
                <a:r>
                  <a:rPr lang="fr-FR" sz="1600" b="1" dirty="0"/>
                  <a:t>, </a:t>
                </a:r>
                <a:r>
                  <a:rPr lang="fr-FR" sz="1600" dirty="0"/>
                  <a:t>les états choisis sont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sz="1600" b="1" dirty="0"/>
                  <a:t> </a:t>
                </a:r>
                <a:r>
                  <a:rPr lang="fr-FR" sz="1600" dirty="0"/>
                  <a:t>et 1</a:t>
                </a:r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dirty="0"/>
                  <a:t>Si les états sont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fr-FR" sz="1600" dirty="0"/>
                  <a:t> et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fr-FR" sz="1600" dirty="0"/>
                  <a:t>, on parle de </a:t>
                </a:r>
                <a:r>
                  <a:rPr lang="fr-FR" sz="1600" b="1" dirty="0"/>
                  <a:t>spins.</a:t>
                </a:r>
              </a:p>
              <a:p>
                <a:pPr lvl="1">
                  <a:lnSpc>
                    <a:spcPct val="100000"/>
                  </a:lnSpc>
                  <a:buFont typeface="Arial" panose="020B0604020202020204" pitchFamily="34" charset="0"/>
                  <a:buChar char="-"/>
                </a:pPr>
                <a:r>
                  <a:rPr lang="fr-FR" sz="2000" b="1" dirty="0"/>
                  <a:t>Généralisation </a:t>
                </a:r>
                <a:r>
                  <a:rPr lang="fr-FR" sz="1600" i="1" dirty="0"/>
                  <a:t>(non traités dans cette présentation)</a:t>
                </a:r>
                <a:endParaRPr lang="fr-FR" sz="1600" b="1" dirty="0"/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dirty="0"/>
                  <a:t>Pour un système à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fr-FR" sz="1600" dirty="0"/>
                  <a:t> états, on parle de </a:t>
                </a:r>
                <a:r>
                  <a:rPr lang="fr-FR" sz="1600" b="1" dirty="0"/>
                  <a:t>qudit</a:t>
                </a:r>
                <a:r>
                  <a:rPr lang="fr-FR" sz="1600" dirty="0"/>
                  <a:t>.</a:t>
                </a:r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dirty="0"/>
                  <a:t>Pour un système encodant une variable continue, on parle de </a:t>
                </a:r>
                <a:r>
                  <a:rPr lang="fr-FR" sz="1600" b="1" dirty="0"/>
                  <a:t>qumode</a:t>
                </a:r>
              </a:p>
            </p:txBody>
          </p:sp>
        </mc:Choice>
        <mc:Fallback xmlns="">
          <p:sp>
            <p:nvSpPr>
              <p:cNvPr id="6" name="Espace réservé du contenu 2">
                <a:extLst>
                  <a:ext uri="{FF2B5EF4-FFF2-40B4-BE49-F238E27FC236}">
                    <a16:creationId xmlns:a16="http://schemas.microsoft.com/office/drawing/2014/main" id="{8B06FF08-3B64-874F-7DD8-42547CB978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7233" y="2118156"/>
                <a:ext cx="7375771" cy="4015225"/>
              </a:xfrm>
              <a:blipFill>
                <a:blip r:embed="rId3"/>
                <a:stretch>
                  <a:fillRect l="-1157" t="-1214" b="-212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re 1">
            <a:extLst>
              <a:ext uri="{FF2B5EF4-FFF2-40B4-BE49-F238E27FC236}">
                <a16:creationId xmlns:a16="http://schemas.microsoft.com/office/drawing/2014/main" id="{D91B3F13-45F2-FBA0-1BD8-6013D4EC1FFD}"/>
              </a:ext>
            </a:extLst>
          </p:cNvPr>
          <p:cNvSpPr txBox="1">
            <a:spLocks/>
          </p:cNvSpPr>
          <p:nvPr/>
        </p:nvSpPr>
        <p:spPr>
          <a:xfrm>
            <a:off x="8428131" y="140152"/>
            <a:ext cx="3506452" cy="13910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400" i="1" dirty="0">
                <a:solidFill>
                  <a:srgbClr val="FFFFFF"/>
                </a:solidFill>
              </a:rPr>
              <a:t>Espaces de Hilbert et notation de Dirac</a:t>
            </a:r>
          </a:p>
        </p:txBody>
      </p:sp>
      <p:pic>
        <p:nvPicPr>
          <p:cNvPr id="1026" name="Picture 2" descr="Two level system absorption and spontaneous emission, the latter being... |  Download Scientific Diagram">
            <a:extLst>
              <a:ext uri="{FF2B5EF4-FFF2-40B4-BE49-F238E27FC236}">
                <a16:creationId xmlns:a16="http://schemas.microsoft.com/office/drawing/2014/main" id="{20B8ACE5-2E3A-2990-396B-7C26C35F56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2723" y="1959102"/>
            <a:ext cx="2656249" cy="2166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atrix Operators and The Two-Level System">
            <a:extLst>
              <a:ext uri="{FF2B5EF4-FFF2-40B4-BE49-F238E27FC236}">
                <a16:creationId xmlns:a16="http://schemas.microsoft.com/office/drawing/2014/main" id="{2F153A1D-DFF2-3D8E-2464-C232B9973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3434" y="4761617"/>
            <a:ext cx="3985334" cy="1371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6292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3" name="Rectangle 105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9501C14-7F4D-4D43-AB31-14E1B4AA1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Formalisme mathématique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C59246-61F9-4344-994B-CAC75B954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65A5C87-DF58-40C8-B092-1DE63DB4547E}" type="slidenum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ce réservé du contenu 2">
                <a:extLst>
                  <a:ext uri="{FF2B5EF4-FFF2-40B4-BE49-F238E27FC236}">
                    <a16:creationId xmlns:a16="http://schemas.microsoft.com/office/drawing/2014/main" id="{8B06FF08-3B64-874F-7DD8-42547CB978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7233" y="2118156"/>
                <a:ext cx="7260875" cy="4015225"/>
              </a:xfrm>
            </p:spPr>
            <p:txBody>
              <a:bodyPr vert="horz" lIns="91440" tIns="45720" rIns="91440" bIns="45720" rtlCol="0" anchor="ctr">
                <a:noAutofit/>
              </a:bodyPr>
              <a:lstStyle/>
              <a:p>
                <a:pPr indent="-2286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fr-FR" sz="2400" u="sng" dirty="0"/>
                  <a:t>Rappels mathématiques</a:t>
                </a:r>
              </a:p>
              <a:p>
                <a:pPr lvl="1">
                  <a:lnSpc>
                    <a:spcPct val="100000"/>
                  </a:lnSpc>
                  <a:buFont typeface="Arial" panose="020B0604020202020204" pitchFamily="34" charset="0"/>
                  <a:buChar char="-"/>
                </a:pPr>
                <a:r>
                  <a:rPr lang="fr-FR" sz="2000" b="1" dirty="0"/>
                  <a:t>Nombres complexes</a:t>
                </a:r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dirty="0"/>
                  <a:t>Extension de l’ensemble des nombres réels</a:t>
                </a:r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dirty="0"/>
                  <a:t>S’écrit sous la forme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z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𝑖𝑦</m:t>
                    </m:r>
                  </m:oMath>
                </a14:m>
                <a:r>
                  <a:rPr lang="fr-FR" sz="1600" dirty="0"/>
                  <a:t> avec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fr-FR" sz="1600" dirty="0"/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fr-FR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fr-FR" sz="1600" dirty="0"/>
                  <a:t> est la </a:t>
                </a:r>
                <a:r>
                  <a:rPr lang="fr-FR" sz="1600" b="1" dirty="0"/>
                  <a:t>partie réelle </a:t>
                </a:r>
                <a:r>
                  <a:rPr lang="fr-FR" sz="1600" dirty="0"/>
                  <a:t>de </a:t>
                </a:r>
                <a14:m>
                  <m:oMath xmlns:m="http://schemas.openxmlformats.org/officeDocument/2006/math">
                    <m:r>
                      <a:rPr lang="fr-FR" sz="16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fr-FR" sz="1600" dirty="0"/>
                  <a:t>, </a:t>
                </a:r>
                <a14:m>
                  <m:oMath xmlns:m="http://schemas.openxmlformats.org/officeDocument/2006/math">
                    <m:r>
                      <a:rPr lang="fr-FR" sz="16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fr-FR" sz="1600" dirty="0"/>
                  <a:t> est la </a:t>
                </a:r>
                <a:r>
                  <a:rPr lang="fr-FR" sz="1600" b="1" dirty="0"/>
                  <a:t>partie imaginaire </a:t>
                </a:r>
                <a:r>
                  <a:rPr lang="fr-FR" sz="1600" dirty="0"/>
                  <a:t>de </a:t>
                </a:r>
                <a14:m>
                  <m:oMath xmlns:m="http://schemas.openxmlformats.org/officeDocument/2006/math">
                    <m:r>
                      <a:rPr lang="fr-FR" sz="16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fr-FR" sz="1600" dirty="0"/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b="1" dirty="0"/>
                  <a:t>Complexe conjugué 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𝑖𝑦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†</m:t>
                        </m:r>
                      </m:sup>
                    </m:sSup>
                  </m:oMath>
                </a14:m>
                <a:r>
                  <a:rPr lang="fr-FR" sz="1600" dirty="0"/>
                  <a:t> </a:t>
                </a:r>
                <a:r>
                  <a:rPr lang="fr-FR" sz="1600" i="1" dirty="0"/>
                  <a:t>(lire « z dagger »)</a:t>
                </a:r>
                <a:endParaRPr lang="fr-FR" sz="1600" dirty="0"/>
              </a:p>
              <a:p>
                <a:pPr lvl="1">
                  <a:lnSpc>
                    <a:spcPct val="100000"/>
                  </a:lnSpc>
                  <a:buFont typeface="Arial" panose="020B0604020202020204" pitchFamily="34" charset="0"/>
                  <a:buChar char="-"/>
                </a:pPr>
                <a:r>
                  <a:rPr lang="fr-FR" sz="2000" b="1" dirty="0"/>
                  <a:t>Représentation graphique : </a:t>
                </a:r>
                <a14:m>
                  <m:oMath xmlns:m="http://schemas.openxmlformats.org/officeDocument/2006/math">
                    <m:r>
                      <a:rPr lang="fr-FR" sz="20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𝑟</m:t>
                    </m:r>
                    <m:sSup>
                      <m:sSup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𝜑</m:t>
                        </m:r>
                      </m:sup>
                    </m:sSup>
                  </m:oMath>
                </a14:m>
                <a:endParaRPr lang="fr-FR" sz="2000" b="1" dirty="0"/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dirty="0"/>
                  <a:t>Forme un vecteur dans le plan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sz="1600" dirty="0"/>
              </a:p>
              <a:p>
                <a:pPr lvl="1">
                  <a:lnSpc>
                    <a:spcPct val="100000"/>
                  </a:lnSpc>
                  <a:buFont typeface="Arial" panose="020B0604020202020204" pitchFamily="34" charset="0"/>
                  <a:buChar char="-"/>
                </a:pPr>
                <a:r>
                  <a:rPr lang="fr-FR" sz="2000" b="1" dirty="0"/>
                  <a:t>Module d’un nombre complexe</a:t>
                </a:r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b="1" dirty="0"/>
                  <a:t>Définition :</a:t>
                </a:r>
                <a:r>
                  <a:rPr lang="fr-FR" sz="16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fr-FR" sz="1600" dirty="0"/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dirty="0"/>
                  <a:t>Dans la </a:t>
                </a:r>
                <a:r>
                  <a:rPr lang="fr-FR" sz="1600" b="1" dirty="0"/>
                  <a:t>représentation graphique</a:t>
                </a:r>
                <a:r>
                  <a:rPr lang="fr-FR" sz="1600" dirty="0"/>
                  <a:t> 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fr-FR" sz="1600" dirty="0"/>
              </a:p>
            </p:txBody>
          </p:sp>
        </mc:Choice>
        <mc:Fallback xmlns="">
          <p:sp>
            <p:nvSpPr>
              <p:cNvPr id="6" name="Espace réservé du contenu 2">
                <a:extLst>
                  <a:ext uri="{FF2B5EF4-FFF2-40B4-BE49-F238E27FC236}">
                    <a16:creationId xmlns:a16="http://schemas.microsoft.com/office/drawing/2014/main" id="{8B06FF08-3B64-874F-7DD8-42547CB978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7233" y="2118156"/>
                <a:ext cx="7260875" cy="4015225"/>
              </a:xfrm>
              <a:blipFill>
                <a:blip r:embed="rId3"/>
                <a:stretch>
                  <a:fillRect l="-117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re 1">
            <a:extLst>
              <a:ext uri="{FF2B5EF4-FFF2-40B4-BE49-F238E27FC236}">
                <a16:creationId xmlns:a16="http://schemas.microsoft.com/office/drawing/2014/main" id="{D91B3F13-45F2-FBA0-1BD8-6013D4EC1FFD}"/>
              </a:ext>
            </a:extLst>
          </p:cNvPr>
          <p:cNvSpPr txBox="1">
            <a:spLocks/>
          </p:cNvSpPr>
          <p:nvPr/>
        </p:nvSpPr>
        <p:spPr>
          <a:xfrm>
            <a:off x="8428131" y="140152"/>
            <a:ext cx="3506452" cy="13910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400" i="1" dirty="0">
                <a:solidFill>
                  <a:srgbClr val="FFFFFF"/>
                </a:solidFill>
              </a:rPr>
              <a:t>Espaces de Hilbert et notation de Dirac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90A4751-7426-61D0-7B8C-3524D3388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427" y="3102397"/>
            <a:ext cx="2375017" cy="2375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0034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3" name="Rectangle 105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9501C14-7F4D-4D43-AB31-14E1B4AA1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Formalisme mathématique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C59246-61F9-4344-994B-CAC75B954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65A5C87-DF58-40C8-B092-1DE63DB4547E}" type="slidenum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ce réservé du contenu 2">
                <a:extLst>
                  <a:ext uri="{FF2B5EF4-FFF2-40B4-BE49-F238E27FC236}">
                    <a16:creationId xmlns:a16="http://schemas.microsoft.com/office/drawing/2014/main" id="{8B06FF08-3B64-874F-7DD8-42547CB978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7233" y="2118156"/>
                <a:ext cx="7260875" cy="4015225"/>
              </a:xfrm>
            </p:spPr>
            <p:txBody>
              <a:bodyPr vert="horz" lIns="91440" tIns="45720" rIns="91440" bIns="45720" rtlCol="0" anchor="ctr">
                <a:noAutofit/>
              </a:bodyPr>
              <a:lstStyle/>
              <a:p>
                <a:pPr indent="-2286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fr-FR" sz="2400" u="sng" dirty="0"/>
                  <a:t>Rappels mathématiques</a:t>
                </a:r>
              </a:p>
              <a:p>
                <a:pPr lvl="1">
                  <a:lnSpc>
                    <a:spcPct val="100000"/>
                  </a:lnSpc>
                  <a:buFont typeface="Arial" panose="020B0604020202020204" pitchFamily="34" charset="0"/>
                  <a:buChar char="-"/>
                </a:pPr>
                <a:r>
                  <a:rPr lang="fr-FR" sz="2000" b="1" dirty="0"/>
                  <a:t>Vecteur</a:t>
                </a:r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dirty="0"/>
                  <a:t>Objet mathématique définit par une </a:t>
                </a:r>
                <a:r>
                  <a:rPr lang="fr-FR" sz="1600" b="1" dirty="0"/>
                  <a:t>direction, un sens et une norme</a:t>
                </a:r>
              </a:p>
              <a:p>
                <a:pPr lvl="1">
                  <a:lnSpc>
                    <a:spcPct val="100000"/>
                  </a:lnSpc>
                  <a:buFont typeface="Arial" panose="020B0604020202020204" pitchFamily="34" charset="0"/>
                  <a:buChar char="-"/>
                </a:pPr>
                <a:r>
                  <a:rPr lang="fr-FR" sz="2000" b="1" dirty="0"/>
                  <a:t>Espace vectoriel</a:t>
                </a:r>
                <a:endParaRPr lang="fr-FR" sz="2000" dirty="0"/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b="1" dirty="0"/>
                  <a:t>Espace mathématique </a:t>
                </a:r>
                <a:r>
                  <a:rPr lang="fr-FR" sz="1600" dirty="0"/>
                  <a:t>comprenant la somme vectorielle et la multiplication par un scalaire</a:t>
                </a:r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lang="fr-FR" sz="2000" dirty="0"/>
                  <a:t> </a:t>
                </a:r>
                <a:r>
                  <a:rPr lang="fr-FR" sz="1600" dirty="0"/>
                  <a:t>et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</m:d>
                    <m:r>
                      <a:rPr lang="fr-FR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𝜆</m:t>
                    </m:r>
                    <m:acc>
                      <m:accPr>
                        <m:chr m:val="⃗"/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𝜆</m:t>
                    </m:r>
                    <m:acc>
                      <m:accPr>
                        <m:chr m:val="⃗"/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endParaRPr lang="fr-FR" sz="1600" dirty="0"/>
              </a:p>
              <a:p>
                <a:pPr lvl="1">
                  <a:lnSpc>
                    <a:spcPct val="100000"/>
                  </a:lnSpc>
                  <a:buFont typeface="Arial" panose="020B0604020202020204" pitchFamily="34" charset="0"/>
                  <a:buChar char="-"/>
                </a:pPr>
                <a:r>
                  <a:rPr lang="fr-FR" sz="2000" b="1" dirty="0"/>
                  <a:t>Produit scalaire</a:t>
                </a:r>
                <a:endParaRPr lang="fr-FR" sz="2000" dirty="0"/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b="1" dirty="0"/>
                  <a:t>Opération algébrique </a:t>
                </a:r>
                <a:r>
                  <a:rPr lang="fr-FR" sz="1600" dirty="0"/>
                  <a:t>associant deux vecteurs à un scalaire</a:t>
                </a:r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fr-FR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</m:d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cos</m:t>
                    </m:r>
                    <m:acc>
                      <m:accPr>
                        <m:chr m:val="̂"/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acc>
                  </m:oMath>
                </a14:m>
                <a:endParaRPr lang="fr-FR" sz="1600" dirty="0"/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dirty="0"/>
                  <a:t>Dans le domaine des complexes, on parle de </a:t>
                </a:r>
                <a:r>
                  <a:rPr lang="fr-FR" sz="1600" b="1" dirty="0"/>
                  <a:t>produit hermitien</a:t>
                </a:r>
              </a:p>
              <a:p>
                <a:pPr marL="914400" lvl="2" indent="0">
                  <a:lnSpc>
                    <a:spcPct val="100000"/>
                  </a:lnSpc>
                  <a:buNone/>
                </a:pPr>
                <a:endParaRPr lang="fr-FR" sz="1600" dirty="0"/>
              </a:p>
            </p:txBody>
          </p:sp>
        </mc:Choice>
        <mc:Fallback xmlns="">
          <p:sp>
            <p:nvSpPr>
              <p:cNvPr id="6" name="Espace réservé du contenu 2">
                <a:extLst>
                  <a:ext uri="{FF2B5EF4-FFF2-40B4-BE49-F238E27FC236}">
                    <a16:creationId xmlns:a16="http://schemas.microsoft.com/office/drawing/2014/main" id="{8B06FF08-3B64-874F-7DD8-42547CB978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7233" y="2118156"/>
                <a:ext cx="7260875" cy="4015225"/>
              </a:xfrm>
              <a:blipFill>
                <a:blip r:embed="rId3"/>
                <a:stretch>
                  <a:fillRect l="-1175" t="-242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re 1">
            <a:extLst>
              <a:ext uri="{FF2B5EF4-FFF2-40B4-BE49-F238E27FC236}">
                <a16:creationId xmlns:a16="http://schemas.microsoft.com/office/drawing/2014/main" id="{D91B3F13-45F2-FBA0-1BD8-6013D4EC1FFD}"/>
              </a:ext>
            </a:extLst>
          </p:cNvPr>
          <p:cNvSpPr txBox="1">
            <a:spLocks/>
          </p:cNvSpPr>
          <p:nvPr/>
        </p:nvSpPr>
        <p:spPr>
          <a:xfrm>
            <a:off x="8428131" y="140152"/>
            <a:ext cx="3506452" cy="13910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400" i="1" dirty="0">
                <a:solidFill>
                  <a:srgbClr val="FFFFFF"/>
                </a:solidFill>
              </a:rPr>
              <a:t>Espaces de Hilbert et notation de Dirac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89BAEAB5-B924-260E-E9CB-497A48F7C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3230" y="2298854"/>
            <a:ext cx="2588397" cy="1435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The scalar product: Product of two vectors | Commutative law And  Distributive Law">
            <a:extLst>
              <a:ext uri="{FF2B5EF4-FFF2-40B4-BE49-F238E27FC236}">
                <a16:creationId xmlns:a16="http://schemas.microsoft.com/office/drawing/2014/main" id="{B57A4EBF-7D28-DCC1-D3B2-25642B4BBE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94" r="18321"/>
          <a:stretch/>
        </p:blipFill>
        <p:spPr bwMode="auto">
          <a:xfrm>
            <a:off x="7953553" y="4189718"/>
            <a:ext cx="2725947" cy="2058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0299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3" name="Rectangle 105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9501C14-7F4D-4D43-AB31-14E1B4AA1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Formalisme mathématique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C59246-61F9-4344-994B-CAC75B954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65A5C87-DF58-40C8-B092-1DE63DB4547E}" type="slidenum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ce réservé du contenu 2">
                <a:extLst>
                  <a:ext uri="{FF2B5EF4-FFF2-40B4-BE49-F238E27FC236}">
                    <a16:creationId xmlns:a16="http://schemas.microsoft.com/office/drawing/2014/main" id="{8B06FF08-3B64-874F-7DD8-42547CB978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7233" y="2118156"/>
                <a:ext cx="8704239" cy="4015225"/>
              </a:xfrm>
            </p:spPr>
            <p:txBody>
              <a:bodyPr vert="horz" lIns="91440" tIns="45720" rIns="91440" bIns="45720" rtlCol="0" anchor="ctr">
                <a:noAutofit/>
              </a:bodyPr>
              <a:lstStyle/>
              <a:p>
                <a:pPr indent="-2286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fr-FR" sz="2400" u="sng" dirty="0"/>
                  <a:t>Notation de Dirac </a:t>
                </a:r>
                <a:r>
                  <a:rPr lang="fr-FR" sz="2400" i="1" u="sng" dirty="0"/>
                  <a:t>(1939)</a:t>
                </a:r>
                <a:endParaRPr lang="fr-FR" sz="2400" u="sng" dirty="0"/>
              </a:p>
              <a:p>
                <a:pPr lvl="1">
                  <a:lnSpc>
                    <a:spcPct val="100000"/>
                  </a:lnSpc>
                  <a:buFont typeface="Arial" panose="020B0604020202020204" pitchFamily="34" charset="0"/>
                  <a:buChar char="-"/>
                </a:pPr>
                <a:r>
                  <a:rPr lang="fr-FR" sz="2000" b="1" dirty="0"/>
                  <a:t>Notation simplifiée de vecteurs </a:t>
                </a:r>
                <a:r>
                  <a:rPr lang="fr-FR" sz="2000" i="1" dirty="0"/>
                  <a:t>(notation bra-ket)</a:t>
                </a:r>
                <a:endParaRPr lang="fr-FR" sz="2000" b="1" dirty="0"/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b="1" dirty="0"/>
                  <a:t>Notation ket : </a:t>
                </a:r>
                <a:r>
                  <a:rPr lang="fr-FR" sz="1600" dirty="0"/>
                  <a:t>État 0 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fr-FR" sz="1600" dirty="0"/>
                  <a:t> </a:t>
                </a:r>
                <a:r>
                  <a:rPr lang="fr-FR" sz="1600" i="1" dirty="0"/>
                  <a:t>(lire « ket zéro »)</a:t>
                </a:r>
                <a:r>
                  <a:rPr lang="fr-FR" sz="1600" dirty="0"/>
                  <a:t>; État 1 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fr-FR" sz="1600" dirty="0"/>
                  <a:t> </a:t>
                </a:r>
                <a:r>
                  <a:rPr lang="fr-FR" sz="1600" i="1" dirty="0"/>
                  <a:t>(lire « ket un »)</a:t>
                </a:r>
                <a:endParaRPr lang="fr-FR" sz="1600" dirty="0"/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b="1" dirty="0"/>
                  <a:t>Notation bra :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⟨0|=</m:t>
                    </m:r>
                    <m:sSup>
                      <m:sSup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1, 0</m:t>
                        </m:r>
                      </m:e>
                    </m:d>
                  </m:oMath>
                </a14:m>
                <a:r>
                  <a:rPr lang="fr-FR" sz="1600" dirty="0"/>
                  <a:t> </a:t>
                </a:r>
                <a:r>
                  <a:rPr lang="fr-FR" sz="1600" i="1" dirty="0"/>
                  <a:t>(lire « bra zéro ») : </a:t>
                </a:r>
                <a14:m>
                  <m:oMath xmlns:m="http://schemas.openxmlformats.org/officeDocument/2006/math">
                    <m:r>
                      <a:rPr lang="fr-FR" sz="1600" i="1">
                        <a:latin typeface="Cambria Math" panose="02040503050406030204" pitchFamily="18" charset="0"/>
                      </a:rPr>
                      <m:t>⟨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fr-FR" sz="1600" i="1">
                        <a:latin typeface="Cambria Math" panose="02040503050406030204" pitchFamily="18" charset="0"/>
                      </a:rPr>
                      <m:t>|=</m:t>
                    </m:r>
                    <m:sSup>
                      <m:sSup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fr-FR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 1</m:t>
                        </m:r>
                      </m:e>
                    </m:d>
                  </m:oMath>
                </a14:m>
                <a:r>
                  <a:rPr lang="fr-FR" sz="1600" dirty="0"/>
                  <a:t> </a:t>
                </a:r>
                <a:r>
                  <a:rPr lang="fr-FR" sz="1600" i="1" dirty="0"/>
                  <a:t>(lire « bra un »)</a:t>
                </a:r>
                <a:endParaRPr lang="fr-FR" sz="1600" dirty="0"/>
              </a:p>
              <a:p>
                <a:pPr lvl="1">
                  <a:lnSpc>
                    <a:spcPct val="100000"/>
                  </a:lnSpc>
                  <a:buFont typeface="Arial" panose="020B0604020202020204" pitchFamily="34" charset="0"/>
                  <a:buChar char="-"/>
                </a:pPr>
                <a:r>
                  <a:rPr lang="fr-FR" sz="2000" b="1" dirty="0"/>
                  <a:t>Vecteur d’état d’un qubit</a:t>
                </a:r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fr-FR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fr-FR" sz="16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mr>
                          <m:m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mr>
                        </m:m>
                      </m:e>
                    </m:d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r>
                  <a:rPr lang="fr-FR" sz="1600" dirty="0"/>
                  <a:t> avec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fr-FR" sz="1600" dirty="0"/>
                  <a:t> et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fr-FR" sz="1600" dirty="0"/>
                  <a:t> des nombres complexes</a:t>
                </a:r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dirty="0"/>
                  <a:t>On 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fr-FR" sz="1600" dirty="0"/>
                  <a:t> et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|=</m:t>
                    </m:r>
                    <m:d>
                      <m:dPr>
                        <m:begChr m:val="["/>
                        <m:endChr m:val="]"/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†</m:t>
                            </m:r>
                          </m:sup>
                        </m:s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sSup>
                          <m:sSup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†</m:t>
                            </m:r>
                          </m:sup>
                        </m:sSup>
                      </m:e>
                    </m:d>
                  </m:oMath>
                </a14:m>
                <a:endParaRPr lang="fr-FR" sz="1600" dirty="0"/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dirty="0"/>
                  <a:t>En mesurant le qubit dont l’état est défini par le vecteur d’état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fr-FR" sz="1600" dirty="0"/>
                  <a:t>, on a </a:t>
                </a:r>
                <a:r>
                  <a:rPr lang="fr-FR" sz="1600" b="1" dirty="0"/>
                  <a:t>une probabilité</a:t>
                </a:r>
                <a:r>
                  <a:rPr lang="fr-FR" sz="1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fr-FR" sz="16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600" b="1" i="1">
                                <a:latin typeface="Cambria Math" panose="02040503050406030204" pitchFamily="18" charset="0"/>
                              </a:rPr>
                              <m:t>𝜶</m:t>
                            </m:r>
                          </m:e>
                        </m:d>
                      </m:e>
                      <m:sup>
                        <m:r>
                          <a:rPr lang="fr-FR" sz="1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fr-FR" sz="1600" b="1" dirty="0"/>
                  <a:t> </a:t>
                </a:r>
                <a:r>
                  <a:rPr lang="fr-FR" sz="1600" dirty="0"/>
                  <a:t>de mesurer l’état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sz="1600" dirty="0"/>
                  <a:t> et </a:t>
                </a:r>
                <a:r>
                  <a:rPr lang="fr-FR" sz="1600" b="1" dirty="0"/>
                  <a:t>une probabilité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fr-FR" sz="16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600" b="1" i="1"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</m:d>
                      </m:e>
                      <m:sup>
                        <m:r>
                          <a:rPr lang="fr-FR" sz="1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fr-FR" sz="1600" dirty="0"/>
                  <a:t> de mesurer l’état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fr-FR" sz="1600" dirty="0"/>
                  <a:t>.</a:t>
                </a:r>
              </a:p>
            </p:txBody>
          </p:sp>
        </mc:Choice>
        <mc:Fallback xmlns="">
          <p:sp>
            <p:nvSpPr>
              <p:cNvPr id="6" name="Espace réservé du contenu 2">
                <a:extLst>
                  <a:ext uri="{FF2B5EF4-FFF2-40B4-BE49-F238E27FC236}">
                    <a16:creationId xmlns:a16="http://schemas.microsoft.com/office/drawing/2014/main" id="{8B06FF08-3B64-874F-7DD8-42547CB978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7233" y="2118156"/>
                <a:ext cx="8704239" cy="4015225"/>
              </a:xfrm>
              <a:blipFill>
                <a:blip r:embed="rId3"/>
                <a:stretch>
                  <a:fillRect l="-98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re 1">
            <a:extLst>
              <a:ext uri="{FF2B5EF4-FFF2-40B4-BE49-F238E27FC236}">
                <a16:creationId xmlns:a16="http://schemas.microsoft.com/office/drawing/2014/main" id="{D91B3F13-45F2-FBA0-1BD8-6013D4EC1FFD}"/>
              </a:ext>
            </a:extLst>
          </p:cNvPr>
          <p:cNvSpPr txBox="1">
            <a:spLocks/>
          </p:cNvSpPr>
          <p:nvPr/>
        </p:nvSpPr>
        <p:spPr>
          <a:xfrm>
            <a:off x="8428131" y="140152"/>
            <a:ext cx="3506452" cy="13910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400" i="1" dirty="0">
                <a:solidFill>
                  <a:srgbClr val="FFFFFF"/>
                </a:solidFill>
              </a:rPr>
              <a:t>Espaces de Hilbert et notation de Dirac</a:t>
            </a:r>
          </a:p>
        </p:txBody>
      </p:sp>
      <p:pic>
        <p:nvPicPr>
          <p:cNvPr id="6146" name="Picture 2" descr="A Casual Guide to Dirac Notation. Understanding common notation in… | by  Roman Paolucci | Towards Data Science">
            <a:extLst>
              <a:ext uri="{FF2B5EF4-FFF2-40B4-BE49-F238E27FC236}">
                <a16:creationId xmlns:a16="http://schemas.microsoft.com/office/drawing/2014/main" id="{D0E9876D-8F00-40DE-F975-E273F4429C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6116" y="2315498"/>
            <a:ext cx="1930482" cy="960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quantum state - Why are qubits represent as unit vectors in an Hilbert space?  - Quantum Computing Stack Exchange">
            <a:extLst>
              <a:ext uri="{FF2B5EF4-FFF2-40B4-BE49-F238E27FC236}">
                <a16:creationId xmlns:a16="http://schemas.microsoft.com/office/drawing/2014/main" id="{421E5018-16AB-8B54-5C41-43BEDFA47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2540" y="3890513"/>
            <a:ext cx="2882043" cy="2415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2197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3" name="Rectangle 105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9501C14-7F4D-4D43-AB31-14E1B4AA1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Formalisme mathématique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C59246-61F9-4344-994B-CAC75B954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65A5C87-DF58-40C8-B092-1DE63DB4547E}" type="slidenum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ce réservé du contenu 2">
                <a:extLst>
                  <a:ext uri="{FF2B5EF4-FFF2-40B4-BE49-F238E27FC236}">
                    <a16:creationId xmlns:a16="http://schemas.microsoft.com/office/drawing/2014/main" id="{8B06FF08-3B64-874F-7DD8-42547CB978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7232" y="2118156"/>
                <a:ext cx="8928526" cy="4015225"/>
              </a:xfrm>
            </p:spPr>
            <p:txBody>
              <a:bodyPr vert="horz" lIns="91440" tIns="45720" rIns="91440" bIns="45720" rtlCol="0" anchor="ctr">
                <a:noAutofit/>
              </a:bodyPr>
              <a:lstStyle/>
              <a:p>
                <a:pPr indent="-2286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fr-FR" sz="2400" u="sng" dirty="0"/>
                  <a:t>Notation de Dirac </a:t>
                </a:r>
                <a:r>
                  <a:rPr lang="fr-FR" sz="2400" i="1" u="sng" dirty="0"/>
                  <a:t>(1939)</a:t>
                </a:r>
                <a:endParaRPr lang="fr-FR" sz="2400" u="sng" dirty="0"/>
              </a:p>
              <a:p>
                <a:pPr lvl="1">
                  <a:lnSpc>
                    <a:spcPct val="100000"/>
                  </a:lnSpc>
                  <a:buFont typeface="Arial" panose="020B0604020202020204" pitchFamily="34" charset="0"/>
                  <a:buChar char="-"/>
                </a:pPr>
                <a:r>
                  <a:rPr lang="fr-FR" sz="2000" b="1" dirty="0"/>
                  <a:t>Produit de Kronecker </a:t>
                </a:r>
                <a:r>
                  <a:rPr lang="fr-FR" sz="2000" i="1" dirty="0"/>
                  <a:t>(ou produit tensoriel) </a:t>
                </a:r>
                <a:r>
                  <a:rPr lang="fr-FR" sz="2000" dirty="0"/>
                  <a:t>« </a:t>
                </a:r>
                <a14:m>
                  <m:oMath xmlns:m="http://schemas.openxmlformats.org/officeDocument/2006/math">
                    <m:r>
                      <a:rPr lang="fr-FR" sz="2000" b="0" i="0" smtClean="0">
                        <a:latin typeface="Cambria Math" panose="02040503050406030204" pitchFamily="18" charset="0"/>
                      </a:rPr>
                      <m:t>⊗</m:t>
                    </m:r>
                  </m:oMath>
                </a14:m>
                <a:r>
                  <a:rPr lang="fr-FR" sz="2000" dirty="0"/>
                  <a:t> »</a:t>
                </a:r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b="1" dirty="0"/>
                  <a:t>Entre deux matrices: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⊗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mr>
                          <m:m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fr-FR" sz="1600" dirty="0"/>
                  <a:t> </a:t>
                </a:r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dirty="0"/>
                  <a:t>Pour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fr-FR" sz="1600" dirty="0"/>
                  <a:t> une matrice de taille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fr-FR" sz="1600" dirty="0"/>
                  <a:t> et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fr-FR" sz="1600" dirty="0"/>
                  <a:t> une matrice de taille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′×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fr-FR" sz="1600" dirty="0"/>
                  <a:t>, résulte en une matrice de taille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𝑛𝑛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′×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𝑚𝑚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fr-FR" sz="1600" dirty="0"/>
              </a:p>
              <a:p>
                <a:pPr lvl="1">
                  <a:lnSpc>
                    <a:spcPct val="100000"/>
                  </a:lnSpc>
                  <a:buFont typeface="Arial" panose="020B0604020202020204" pitchFamily="34" charset="0"/>
                  <a:buChar char="-"/>
                </a:pPr>
                <a:r>
                  <a:rPr lang="fr-FR" sz="2000" b="1" dirty="0"/>
                  <a:t>Notation générale des vecteurs d’états</a:t>
                </a:r>
                <a:endParaRPr lang="fr-FR" sz="2000" dirty="0"/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dirty="0"/>
                  <a:t>On considère un système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lang="fr-FR" sz="1600" dirty="0"/>
                  <a:t> à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fr-FR" sz="1600" dirty="0"/>
                  <a:t> qubits ayant chacun un vecteur d’état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⟩</m:t>
                        </m:r>
                        <m:r>
                          <m:rPr>
                            <m:nor/>
                          </m:rPr>
                          <a:rPr lang="fr-FR" sz="1600" dirty="0"/>
                          <m:t> 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0,…,</m:t>
                            </m:r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sub>
                    </m:sSub>
                  </m:oMath>
                </a14:m>
                <a:endParaRPr lang="fr-FR" sz="1600" dirty="0"/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dirty="0"/>
                  <a:t>L’état du système se note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fr-FR" sz="1600">
                                <a:latin typeface="Cambria Math" panose="02040503050406030204" pitchFamily="18" charset="0"/>
                              </a:rPr>
                              <m:t>Ψ</m:t>
                            </m:r>
                          </m:e>
                        </m:d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⊗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fr-FR" sz="1600" b="0" i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fr-FR" sz="1600" b="0" i="0" smtClean="0">
                            <a:latin typeface="Cambria Math" panose="02040503050406030204" pitchFamily="18" charset="0"/>
                          </a:rPr>
                          <m:t>Ψ</m:t>
                        </m:r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⟩</m:t>
                        </m:r>
                        <m:r>
                          <m:rPr>
                            <m:nor/>
                          </m:rPr>
                          <a:rPr lang="fr-FR" sz="1600" dirty="0"/>
                          <m:t> </m:t>
                        </m:r>
                      </m:e>
                      <m:sub>
                        <m:r>
                          <a:rPr lang="fr-FR" sz="16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⟩"/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⊗</m:t>
                    </m:r>
                    <m:d>
                      <m:dPr>
                        <m:begChr m:val="|"/>
                        <m:endChr m:val="⟩"/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⊗…⊗</m:t>
                    </m:r>
                    <m:d>
                      <m:dPr>
                        <m:begChr m:val="|"/>
                        <m:endChr m:val="⟩"/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fr-FR" sz="1600" dirty="0"/>
              </a:p>
            </p:txBody>
          </p:sp>
        </mc:Choice>
        <mc:Fallback>
          <p:sp>
            <p:nvSpPr>
              <p:cNvPr id="6" name="Espace réservé du contenu 2">
                <a:extLst>
                  <a:ext uri="{FF2B5EF4-FFF2-40B4-BE49-F238E27FC236}">
                    <a16:creationId xmlns:a16="http://schemas.microsoft.com/office/drawing/2014/main" id="{8B06FF08-3B64-874F-7DD8-42547CB978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7232" y="2118156"/>
                <a:ext cx="8928526" cy="4015225"/>
              </a:xfrm>
              <a:blipFill>
                <a:blip r:embed="rId3"/>
                <a:stretch>
                  <a:fillRect l="-9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re 1">
            <a:extLst>
              <a:ext uri="{FF2B5EF4-FFF2-40B4-BE49-F238E27FC236}">
                <a16:creationId xmlns:a16="http://schemas.microsoft.com/office/drawing/2014/main" id="{D91B3F13-45F2-FBA0-1BD8-6013D4EC1FFD}"/>
              </a:ext>
            </a:extLst>
          </p:cNvPr>
          <p:cNvSpPr txBox="1">
            <a:spLocks/>
          </p:cNvSpPr>
          <p:nvPr/>
        </p:nvSpPr>
        <p:spPr>
          <a:xfrm>
            <a:off x="8428131" y="140152"/>
            <a:ext cx="3506452" cy="13910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400" i="1" dirty="0">
                <a:solidFill>
                  <a:srgbClr val="FFFFFF"/>
                </a:solidFill>
              </a:rPr>
              <a:t>Espaces de Hilbert et notation de Dirac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39C8D90B-F29A-A918-A06D-DECBA121F148}"/>
                  </a:ext>
                </a:extLst>
              </p:cNvPr>
              <p:cNvSpPr txBox="1"/>
              <p:nvPr/>
            </p:nvSpPr>
            <p:spPr>
              <a:xfrm>
                <a:off x="4498767" y="1822348"/>
                <a:ext cx="2835215" cy="554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fr-FR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fr-FR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sz="1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fr-FR" sz="18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mr>
                            <m:mr>
                              <m:e>
                                <m:r>
                                  <a:rPr lang="fr-FR" sz="1800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mr>
                          </m:m>
                        </m:e>
                      </m:d>
                      <m:r>
                        <a:rPr lang="fr-FR" sz="18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|"/>
                          <m:endChr m:val="⟩"/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|1⟩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39C8D90B-F29A-A918-A06D-DECBA121F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8767" y="1822348"/>
                <a:ext cx="2835215" cy="5548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Image 11">
            <a:extLst>
              <a:ext uri="{FF2B5EF4-FFF2-40B4-BE49-F238E27FC236}">
                <a16:creationId xmlns:a16="http://schemas.microsoft.com/office/drawing/2014/main" id="{9014CEAF-D53A-AFA0-B2B4-D89FD4C424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8777" y="4875846"/>
            <a:ext cx="1505160" cy="781159"/>
          </a:xfrm>
          <a:prstGeom prst="rect">
            <a:avLst/>
          </a:prstGeom>
        </p:spPr>
      </p:pic>
      <p:pic>
        <p:nvPicPr>
          <p:cNvPr id="5122" name="Picture 2" descr="Illustration of the matrix Kronecker Product A = B ⊗ C. (Right) A 2 × 2...  | Download Scientific Diagram">
            <a:extLst>
              <a:ext uri="{FF2B5EF4-FFF2-40B4-BE49-F238E27FC236}">
                <a16:creationId xmlns:a16="http://schemas.microsoft.com/office/drawing/2014/main" id="{40C56A25-CD53-BB11-309E-572DBDE1B5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4720" y="2116510"/>
            <a:ext cx="3151913" cy="1575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0649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3" name="Rectangle 105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9501C14-7F4D-4D43-AB31-14E1B4AA1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Formalisme mathématique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C59246-61F9-4344-994B-CAC75B954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65A5C87-DF58-40C8-B092-1DE63DB4547E}" type="slidenum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ce réservé du contenu 2">
                <a:extLst>
                  <a:ext uri="{FF2B5EF4-FFF2-40B4-BE49-F238E27FC236}">
                    <a16:creationId xmlns:a16="http://schemas.microsoft.com/office/drawing/2014/main" id="{8B06FF08-3B64-874F-7DD8-42547CB978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7232" y="2118156"/>
                <a:ext cx="11924767" cy="4015225"/>
              </a:xfrm>
            </p:spPr>
            <p:txBody>
              <a:bodyPr vert="horz" lIns="91440" tIns="45720" rIns="91440" bIns="45720" rtlCol="0" anchor="ctr">
                <a:noAutofit/>
              </a:bodyPr>
              <a:lstStyle/>
              <a:p>
                <a:pPr indent="-2286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fr-FR" sz="2400" u="sng" dirty="0"/>
                  <a:t>Notation de Dirac </a:t>
                </a:r>
                <a:r>
                  <a:rPr lang="fr-FR" sz="2400" i="1" u="sng" dirty="0"/>
                  <a:t>(1916)</a:t>
                </a:r>
                <a:endParaRPr lang="fr-FR" sz="2400" u="sng" dirty="0"/>
              </a:p>
              <a:p>
                <a:pPr lvl="1">
                  <a:lnSpc>
                    <a:spcPct val="100000"/>
                  </a:lnSpc>
                  <a:buFont typeface="Arial" panose="020B0604020202020204" pitchFamily="34" charset="0"/>
                  <a:buChar char="-"/>
                </a:pPr>
                <a:r>
                  <a:rPr lang="fr-FR" sz="2000" b="1" dirty="0"/>
                  <a:t>Vecteur d’état d’un système à deux qubits</a:t>
                </a:r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fr-FR" sz="1600" b="0" i="0" smtClean="0">
                                    <a:latin typeface="Cambria Math" panose="02040503050406030204" pitchFamily="18" charset="0"/>
                                  </a:rPr>
                                  <m:t>Ψ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fr-FR" sz="1600" b="0" i="0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</m:mr>
                          <m:m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</m:mr>
                        </m:m>
                      </m:e>
                    </m:d>
                    <m:r>
                      <a:rPr lang="fr-FR" sz="160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6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begChr m:val="["/>
                        <m:endChr m:val="]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fr-FR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sz="16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fr-FR" sz="1600" i="1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begChr m:val="["/>
                        <m:endChr m:val="]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fr-FR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fr-FR" sz="1600" dirty="0"/>
                  <a:t> </a:t>
                </a:r>
                <a14:m>
                  <m:oMath xmlns:m="http://schemas.openxmlformats.org/officeDocument/2006/math">
                    <m:r>
                      <a:rPr lang="fr-FR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fr-FR" sz="1600" i="1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begChr m:val="["/>
                        <m:endChr m:val="]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fr-FR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fr-FR" sz="1600" dirty="0"/>
                  <a:t> </a:t>
                </a:r>
                <a14:m>
                  <m:oMath xmlns:m="http://schemas.openxmlformats.org/officeDocument/2006/math">
                    <m:r>
                      <a:rPr lang="fr-FR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fr-FR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6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begChr m:val="|"/>
                        <m:endChr m:val="⟩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fr-FR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sz="16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begChr m:val="|"/>
                        <m:endChr m:val="⟩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begChr m:val="|"/>
                        <m:endChr m:val="⟩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fr-FR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′|3⟩</m:t>
                    </m:r>
                  </m:oMath>
                </a14:m>
                <a:endParaRPr lang="fr-FR" sz="1600" dirty="0"/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dirty="0"/>
                  <a:t>On a toujours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  <m:sup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sz="16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  <m:sup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  <m:sup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sz="16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  <m:sup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sz="16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fr-FR" sz="1600" dirty="0"/>
              </a:p>
              <a:p>
                <a:pPr lvl="1">
                  <a:lnSpc>
                    <a:spcPct val="100000"/>
                  </a:lnSpc>
                  <a:buFont typeface="Arial" panose="020B0604020202020204" pitchFamily="34" charset="0"/>
                  <a:buChar char="-"/>
                </a:pPr>
                <a:r>
                  <a:rPr lang="fr-FR" sz="2000" b="1" dirty="0"/>
                  <a:t>Vecteur d’état d’un système à </a:t>
                </a:r>
                <a14:m>
                  <m:oMath xmlns:m="http://schemas.openxmlformats.org/officeDocument/2006/math"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fr-FR" sz="2000" dirty="0"/>
                  <a:t> </a:t>
                </a:r>
                <a:r>
                  <a:rPr lang="fr-FR" sz="2000" b="1" dirty="0"/>
                  <a:t>qubits</a:t>
                </a:r>
                <a:endParaRPr lang="fr-FR" sz="2000" dirty="0"/>
              </a:p>
              <a:p>
                <a:pPr marL="914400" lvl="2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600" b="0" i="0" smtClean="0">
                                      <a:latin typeface="Cambria Math" panose="02040503050406030204" pitchFamily="18" charset="0"/>
                                    </a:rPr>
                                    <m:t>Ψ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fr-FR" sz="1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sSup>
                            <m:s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p>
                          </m:s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d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nary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sz="1600" dirty="0"/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dirty="0"/>
                  <a:t>On a toujours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fr-FR" sz="16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sSup>
                          <m:sSup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p>
                          <m:sSup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fr-F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600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fr-FR" sz="16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endParaRPr lang="fr-FR" sz="1600" dirty="0"/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dirty="0"/>
                  <a:t>Par convention, on pose les </a:t>
                </a:r>
                <a:r>
                  <a:rPr lang="fr-FR" sz="1600" i="1" dirty="0"/>
                  <a:t>number states </a:t>
                </a:r>
                <a:r>
                  <a:rPr lang="fr-FR" sz="1600" dirty="0"/>
                  <a:t>tq </a:t>
                </a:r>
                <a:r>
                  <a:rPr lang="fr-FR" sz="1600" b="1" dirty="0"/>
                  <a:t>l’encodage binaire d’un état </a:t>
                </a:r>
                <a14:m>
                  <m:oMath xmlns:m="http://schemas.openxmlformats.org/officeDocument/2006/math">
                    <m:r>
                      <a:rPr lang="fr-FR" sz="1600">
                        <a:latin typeface="Cambria Math" panose="02040503050406030204" pitchFamily="18" charset="0"/>
                      </a:rPr>
                      <m:t>|</m:t>
                    </m:r>
                    <m:r>
                      <a:rPr lang="fr-FR" sz="1600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fr-FR" sz="1600" i="1">
                        <a:latin typeface="Cambria Math" panose="02040503050406030204" pitchFamily="18" charset="0"/>
                      </a:rPr>
                      <m:t>⟩∈{0,…,</m:t>
                    </m:r>
                    <m:sSup>
                      <m:sSup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fr-FR" sz="16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fr-FR" sz="1600" dirty="0"/>
                  <a:t>. </a:t>
                </a:r>
                <a:r>
                  <a:rPr lang="fr-FR" sz="1600" i="1" dirty="0"/>
                  <a:t>Par ex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</m:e>
                      <m: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fr-FR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⟩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fr-FR" sz="1600" i="1">
                        <a:latin typeface="Cambria Math" panose="02040503050406030204" pitchFamily="18" charset="0"/>
                      </a:rPr>
                      <m:t>⊗</m:t>
                    </m:r>
                    <m:d>
                      <m:dPr>
                        <m:begChr m:val="|"/>
                        <m:endChr m:val="⟩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fr-FR" sz="1600" i="1">
                        <a:latin typeface="Cambria Math" panose="02040503050406030204" pitchFamily="18" charset="0"/>
                      </a:rPr>
                      <m:t>⊗|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fr-FR" sz="1600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fr-FR" sz="1600" dirty="0"/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b="1" dirty="0"/>
                  <a:t>En mathématiques</a:t>
                </a:r>
                <a:r>
                  <a:rPr lang="fr-FR" sz="1600" dirty="0"/>
                  <a:t>, 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fr-FR" sz="1600" dirty="0"/>
                  <a:t> sont appelés les </a:t>
                </a:r>
                <a:r>
                  <a:rPr lang="fr-FR" sz="1600" b="1" dirty="0"/>
                  <a:t>valeurs propres </a:t>
                </a:r>
                <a:r>
                  <a:rPr lang="fr-FR" sz="1600" i="1" dirty="0"/>
                  <a:t>(eigenvalues) </a:t>
                </a:r>
                <a:r>
                  <a:rPr lang="fr-FR" sz="1600" dirty="0"/>
                  <a:t>associés aux </a:t>
                </a:r>
                <a:r>
                  <a:rPr lang="fr-FR" sz="1600" b="1" dirty="0"/>
                  <a:t>vecteur propres </a:t>
                </a:r>
                <a:r>
                  <a:rPr lang="fr-FR" sz="1600" i="1" dirty="0"/>
                  <a:t>(eigenvectors)</a:t>
                </a:r>
                <a:r>
                  <a:rPr lang="fr-FR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fr-FR" sz="1600" dirty="0"/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b="1" dirty="0"/>
                  <a:t>En physique quantique</a:t>
                </a:r>
                <a:r>
                  <a:rPr lang="fr-FR" sz="1600" dirty="0"/>
                  <a:t>, on appelle 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e>
                      <m: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fr-FR" sz="1600" dirty="0"/>
                  <a:t> des </a:t>
                </a:r>
                <a:r>
                  <a:rPr lang="fr-FR" sz="1600" b="1" dirty="0"/>
                  <a:t>états propres </a:t>
                </a:r>
                <a:r>
                  <a:rPr lang="fr-FR" sz="1600" i="1" dirty="0"/>
                  <a:t>(eigenstates)</a:t>
                </a:r>
                <a:r>
                  <a:rPr lang="fr-FR" sz="1600" dirty="0"/>
                  <a:t>, ou plus simplement des </a:t>
                </a:r>
                <a:r>
                  <a:rPr lang="fr-FR" sz="1600" b="1" dirty="0"/>
                  <a:t>états de base </a:t>
                </a:r>
                <a:r>
                  <a:rPr lang="fr-FR" sz="1600" i="1" dirty="0"/>
                  <a:t>(basis states)</a:t>
                </a:r>
                <a:r>
                  <a:rPr lang="fr-FR" sz="1600" dirty="0"/>
                  <a:t>.</a:t>
                </a:r>
              </a:p>
            </p:txBody>
          </p:sp>
        </mc:Choice>
        <mc:Fallback xmlns="">
          <p:sp>
            <p:nvSpPr>
              <p:cNvPr id="6" name="Espace réservé du contenu 2">
                <a:extLst>
                  <a:ext uri="{FF2B5EF4-FFF2-40B4-BE49-F238E27FC236}">
                    <a16:creationId xmlns:a16="http://schemas.microsoft.com/office/drawing/2014/main" id="{8B06FF08-3B64-874F-7DD8-42547CB978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7232" y="2118156"/>
                <a:ext cx="11924767" cy="4015225"/>
              </a:xfrm>
              <a:blipFill>
                <a:blip r:embed="rId3"/>
                <a:stretch>
                  <a:fillRect l="-716" t="-6980" b="-728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re 1">
            <a:extLst>
              <a:ext uri="{FF2B5EF4-FFF2-40B4-BE49-F238E27FC236}">
                <a16:creationId xmlns:a16="http://schemas.microsoft.com/office/drawing/2014/main" id="{D91B3F13-45F2-FBA0-1BD8-6013D4EC1FFD}"/>
              </a:ext>
            </a:extLst>
          </p:cNvPr>
          <p:cNvSpPr txBox="1">
            <a:spLocks/>
          </p:cNvSpPr>
          <p:nvPr/>
        </p:nvSpPr>
        <p:spPr>
          <a:xfrm>
            <a:off x="8428131" y="140152"/>
            <a:ext cx="3506452" cy="13910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400" i="1" dirty="0">
                <a:solidFill>
                  <a:srgbClr val="FFFFFF"/>
                </a:solidFill>
              </a:rPr>
              <a:t>Espaces de Hilbert et notation de Dirac</a:t>
            </a:r>
          </a:p>
        </p:txBody>
      </p:sp>
      <p:pic>
        <p:nvPicPr>
          <p:cNvPr id="7170" name="Picture 2" descr="Maths - Maths - 4D Multivector basis - Martin Baker - Martin Baker">
            <a:extLst>
              <a:ext uri="{FF2B5EF4-FFF2-40B4-BE49-F238E27FC236}">
                <a16:creationId xmlns:a16="http://schemas.microsoft.com/office/drawing/2014/main" id="{3D37028E-2E45-0239-9607-7E985035C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3636" y="2255375"/>
            <a:ext cx="2430683" cy="2347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4795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3" name="Rectangle 105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9501C14-7F4D-4D43-AB31-14E1B4AA1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Formalisme mathématique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C59246-61F9-4344-994B-CAC75B954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65A5C87-DF58-40C8-B092-1DE63DB4547E}" type="slidenum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ce réservé du contenu 2">
                <a:extLst>
                  <a:ext uri="{FF2B5EF4-FFF2-40B4-BE49-F238E27FC236}">
                    <a16:creationId xmlns:a16="http://schemas.microsoft.com/office/drawing/2014/main" id="{8B06FF08-3B64-874F-7DD8-42547CB978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7233" y="2118156"/>
                <a:ext cx="8712865" cy="4015225"/>
              </a:xfrm>
            </p:spPr>
            <p:txBody>
              <a:bodyPr vert="horz" lIns="91440" tIns="45720" rIns="91440" bIns="45720" rtlCol="0" anchor="ctr">
                <a:noAutofit/>
              </a:bodyPr>
              <a:lstStyle/>
              <a:p>
                <a:pPr indent="-2286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fr-FR" sz="2400" u="sng" dirty="0"/>
                  <a:t>Rappel</a:t>
                </a:r>
              </a:p>
              <a:p>
                <a:pPr lvl="1">
                  <a:lnSpc>
                    <a:spcPct val="100000"/>
                  </a:lnSpc>
                  <a:buFont typeface="Arial" panose="020B0604020202020204" pitchFamily="34" charset="0"/>
                  <a:buChar char="-"/>
                </a:pPr>
                <a:r>
                  <a:rPr lang="fr-FR" sz="2000" b="1" dirty="0"/>
                  <a:t>Vecteur d’état d’un qubit 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fr-FR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fr-FR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mr>
                          <m:mr>
                            <m:e>
                              <m:r>
                                <a:rPr lang="fr-FR" sz="20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mr>
                        </m:m>
                      </m:e>
                    </m:d>
                    <m:r>
                      <a:rPr lang="fr-FR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fr-FR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endParaRPr lang="fr-FR" sz="2000" b="1" dirty="0"/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dirty="0"/>
                  <a:t>Avec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fr-FR" sz="1600" dirty="0"/>
                  <a:t> et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fr-FR" sz="1600" dirty="0"/>
                  <a:t> des amplitudes complexes</a:t>
                </a:r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dirty="0"/>
                  <a:t>Représentation graphique d’un nombre complexe :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</m:sup>
                    </m:sSup>
                  </m:oMath>
                </a14:m>
                <a:r>
                  <a:rPr lang="fr-FR" sz="1600" dirty="0"/>
                  <a:t> et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fr-FR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sSup>
                      <m:sSup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sub>
                        </m:sSub>
                      </m:sup>
                    </m:sSup>
                  </m:oMath>
                </a14:m>
                <a:r>
                  <a:rPr lang="fr-FR" sz="1600" dirty="0"/>
                  <a:t> avec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sub>
                        </m:sSub>
                      </m:e>
                    </m:d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fr-FR" sz="1600" dirty="0"/>
                  <a:t> et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sub>
                        </m:sSub>
                      </m:e>
                    </m:d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∈[0,2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[</m:t>
                        </m:r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fr-FR" sz="1600" dirty="0"/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b="1" dirty="0"/>
                  <a:t>Sous cette forme</a:t>
                </a:r>
                <a:r>
                  <a:rPr lang="fr-FR" sz="1600" dirty="0"/>
                  <a:t>, l’état d’un qubit de définit dans un </a:t>
                </a:r>
                <a:r>
                  <a:rPr lang="fr-FR" sz="1600" b="1" dirty="0"/>
                  <a:t>espace à 4 dimensions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sz="1600" dirty="0"/>
              </a:p>
              <a:p>
                <a:pPr lvl="1">
                  <a:lnSpc>
                    <a:spcPct val="100000"/>
                  </a:lnSpc>
                  <a:buFont typeface="Arial" panose="020B0604020202020204" pitchFamily="34" charset="0"/>
                  <a:buChar char="-"/>
                </a:pPr>
                <a:r>
                  <a:rPr lang="fr-FR" sz="2000" b="1" dirty="0"/>
                  <a:t>Identités géométriques:</a:t>
                </a:r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dirty="0"/>
                  <a:t>Pour rappel, on a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fr-FR" sz="1600" dirty="0"/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dirty="0"/>
                  <a:t>On peut définir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fr-FR" sz="1600" dirty="0"/>
                  <a:t> tq.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6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f>
                          <m:f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num>
                          <m:den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func>
                  </m:oMath>
                </a14:m>
                <a:r>
                  <a:rPr lang="fr-FR" sz="1600" dirty="0"/>
                  <a:t>  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6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f>
                          <m:f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num>
                          <m:den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func>
                  </m:oMath>
                </a14:m>
                <a:endParaRPr lang="fr-FR" sz="1600" dirty="0"/>
              </a:p>
              <a:p>
                <a:pPr lvl="1">
                  <a:lnSpc>
                    <a:spcPct val="100000"/>
                  </a:lnSpc>
                  <a:buFont typeface="Arial" panose="020B0604020202020204" pitchFamily="34" charset="0"/>
                  <a:buChar char="-"/>
                </a:pPr>
                <a:r>
                  <a:rPr lang="fr-FR" sz="2000" b="1" dirty="0"/>
                  <a:t>On a donc 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sSup>
                      <m:sSup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</m:sup>
                    </m:sSup>
                    <m:d>
                      <m:dPr>
                        <m:begChr m:val="|"/>
                        <m:endChr m:val="⟩"/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sSup>
                      <m:sSup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sub>
                        </m:sSub>
                      </m:sup>
                    </m:sSup>
                    <m:d>
                      <m:dPr>
                        <m:begChr m:val="|"/>
                        <m:endChr m:val="⟩"/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20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f>
                          <m:f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num>
                          <m:den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func>
                    <m:sSup>
                      <m:sSup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</m:sup>
                    </m:sSup>
                    <m:d>
                      <m:dPr>
                        <m:begChr m:val="|"/>
                        <m:endChr m:val="⟩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fr-FR" sz="2000" i="1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20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f>
                          <m:f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num>
                          <m:den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func>
                    <m:sSup>
                      <m:sSup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sub>
                        </m:sSub>
                      </m:sup>
                    </m:sSup>
                    <m:d>
                      <m:dPr>
                        <m:begChr m:val="|"/>
                        <m:endChr m:val="⟩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fr-FR" sz="2000" dirty="0"/>
              </a:p>
            </p:txBody>
          </p:sp>
        </mc:Choice>
        <mc:Fallback xmlns="">
          <p:sp>
            <p:nvSpPr>
              <p:cNvPr id="6" name="Espace réservé du contenu 2">
                <a:extLst>
                  <a:ext uri="{FF2B5EF4-FFF2-40B4-BE49-F238E27FC236}">
                    <a16:creationId xmlns:a16="http://schemas.microsoft.com/office/drawing/2014/main" id="{8B06FF08-3B64-874F-7DD8-42547CB978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7233" y="2118156"/>
                <a:ext cx="8712865" cy="4015225"/>
              </a:xfrm>
              <a:blipFill>
                <a:blip r:embed="rId3"/>
                <a:stretch>
                  <a:fillRect l="-980" t="-3338" b="-34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re 1">
            <a:extLst>
              <a:ext uri="{FF2B5EF4-FFF2-40B4-BE49-F238E27FC236}">
                <a16:creationId xmlns:a16="http://schemas.microsoft.com/office/drawing/2014/main" id="{D91B3F13-45F2-FBA0-1BD8-6013D4EC1FFD}"/>
              </a:ext>
            </a:extLst>
          </p:cNvPr>
          <p:cNvSpPr txBox="1">
            <a:spLocks/>
          </p:cNvSpPr>
          <p:nvPr/>
        </p:nvSpPr>
        <p:spPr>
          <a:xfrm>
            <a:off x="8428131" y="140152"/>
            <a:ext cx="3506452" cy="13910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400" i="1" dirty="0">
                <a:solidFill>
                  <a:srgbClr val="FFFFFF"/>
                </a:solidFill>
              </a:rPr>
              <a:t>Sphère de Bloch</a:t>
            </a:r>
          </a:p>
        </p:txBody>
      </p:sp>
      <p:pic>
        <p:nvPicPr>
          <p:cNvPr id="8194" name="Picture 2" descr="What is the intuitive explanation of the relation between complex  exponential and a circle? - Quora">
            <a:extLst>
              <a:ext uri="{FF2B5EF4-FFF2-40B4-BE49-F238E27FC236}">
                <a16:creationId xmlns:a16="http://schemas.microsoft.com/office/drawing/2014/main" id="{2DD0E3B1-BD84-B551-9CF9-9AB07299A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7331" y="2753344"/>
            <a:ext cx="2226284" cy="2196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1829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3" name="Rectangle 105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9501C14-7F4D-4D43-AB31-14E1B4AA1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Formalisme mathématique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C59246-61F9-4344-994B-CAC75B954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65A5C87-DF58-40C8-B092-1DE63DB4547E}" type="slidenum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ce réservé du contenu 2">
                <a:extLst>
                  <a:ext uri="{FF2B5EF4-FFF2-40B4-BE49-F238E27FC236}">
                    <a16:creationId xmlns:a16="http://schemas.microsoft.com/office/drawing/2014/main" id="{8B06FF08-3B64-874F-7DD8-42547CB978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7233" y="2118156"/>
                <a:ext cx="8712865" cy="4015225"/>
              </a:xfrm>
            </p:spPr>
            <p:txBody>
              <a:bodyPr vert="horz" lIns="91440" tIns="45720" rIns="91440" bIns="45720" rtlCol="0" anchor="ctr">
                <a:noAutofit/>
              </a:bodyPr>
              <a:lstStyle/>
              <a:p>
                <a:pPr indent="-2286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fr-FR" sz="2400" u="sng" dirty="0"/>
                  <a:t>Représentation graphique des amplitudes complexes</a:t>
                </a:r>
              </a:p>
              <a:p>
                <a:pPr lvl="1">
                  <a:lnSpc>
                    <a:spcPct val="100000"/>
                  </a:lnSpc>
                  <a:buFont typeface="Arial" panose="020B0604020202020204" pitchFamily="34" charset="0"/>
                  <a:buChar char="-"/>
                </a:pPr>
                <a:r>
                  <a:rPr lang="fr-FR" sz="2000" b="1" dirty="0"/>
                  <a:t>On a donc 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20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f>
                          <m:f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num>
                          <m:den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func>
                    <m:sSup>
                      <m:sSup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</m:sup>
                    </m:sSup>
                    <m:d>
                      <m:dPr>
                        <m:begChr m:val="|"/>
                        <m:endChr m:val="⟩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fr-FR" sz="2000" i="1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20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f>
                          <m:f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num>
                          <m:den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func>
                    <m:sSup>
                      <m:sSup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sub>
                        </m:sSub>
                      </m:sup>
                    </m:sSup>
                    <m:d>
                      <m:dPr>
                        <m:begChr m:val="|"/>
                        <m:endChr m:val="⟩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fr-FR" sz="2000" b="1" dirty="0"/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dirty="0"/>
                  <a:t>Le système quantique est défini par </a:t>
                </a:r>
                <a:r>
                  <a:rPr lang="fr-FR" sz="1600" b="1" dirty="0"/>
                  <a:t>3 angles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sz="2000" b="1" dirty="0"/>
              </a:p>
              <a:p>
                <a:pPr lvl="1">
                  <a:lnSpc>
                    <a:spcPct val="100000"/>
                  </a:lnSpc>
                  <a:buFont typeface="Arial" panose="020B0604020202020204" pitchFamily="34" charset="0"/>
                  <a:buChar char="-"/>
                </a:pPr>
                <a:r>
                  <a:rPr lang="fr-FR" sz="2000" b="1" dirty="0"/>
                  <a:t>Phase globale:</a:t>
                </a:r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dirty="0"/>
                  <a:t>En multipliant l’expression par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</m:sup>
                    </m:sSup>
                  </m:oMath>
                </a14:m>
                <a:r>
                  <a:rPr lang="fr-FR" sz="1600" dirty="0"/>
                  <a:t>, on ajoute une </a:t>
                </a:r>
                <a:r>
                  <a:rPr lang="fr-FR" sz="1600" b="1" dirty="0"/>
                  <a:t>phase globale </a:t>
                </a:r>
                <a:r>
                  <a:rPr lang="fr-FR" sz="1600" dirty="0"/>
                  <a:t>au système</a:t>
                </a:r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b="1" dirty="0"/>
                  <a:t>N’affecte pas les probabilités de mesure</a:t>
                </a:r>
                <a:r>
                  <a:rPr lang="fr-FR" sz="1600" dirty="0"/>
                  <a:t> basées sur l’amplitude </a:t>
                </a:r>
                <a:r>
                  <a:rPr lang="fr-FR" sz="1600" i="1" dirty="0"/>
                  <a:t>(pour rappel)</a:t>
                </a:r>
              </a:p>
              <a:p>
                <a:pPr lvl="1">
                  <a:lnSpc>
                    <a:spcPct val="100000"/>
                  </a:lnSpc>
                  <a:buFont typeface="Arial" panose="020B0604020202020204" pitchFamily="34" charset="0"/>
                  <a:buChar char="-"/>
                </a:pPr>
                <a:r>
                  <a:rPr lang="fr-FR" sz="2000" b="1" dirty="0"/>
                  <a:t>On obtient 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fr-FR" sz="20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20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f>
                          <m:f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num>
                          <m:den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func>
                    <m:d>
                      <m:dPr>
                        <m:begChr m:val="|"/>
                        <m:endChr m:val="⟩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fr-FR" sz="2000" i="1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20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f>
                          <m:f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num>
                          <m:den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func>
                    <m:sSup>
                      <m:sSup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sup>
                    </m:sSup>
                    <m:d>
                      <m:dPr>
                        <m:begChr m:val="|"/>
                        <m:endChr m:val="⟩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fr-FR" sz="2000" b="1" dirty="0"/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dirty="0"/>
                  <a:t>Avec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b="1" dirty="0"/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dirty="0"/>
                  <a:t>Le système quantique est défini </a:t>
                </a:r>
                <a:r>
                  <a:rPr lang="fr-FR" sz="1600" b="1" dirty="0"/>
                  <a:t>par 2 angles: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∈[0,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fr-FR" sz="1600" dirty="0"/>
                  <a:t> et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∈[0,2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[</m:t>
                    </m:r>
                  </m:oMath>
                </a14:m>
                <a:endParaRPr lang="fr-FR" sz="1600" dirty="0"/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b="1" dirty="0"/>
                  <a:t>Coordonnées sphériques </a:t>
                </a:r>
              </a:p>
            </p:txBody>
          </p:sp>
        </mc:Choice>
        <mc:Fallback xmlns="">
          <p:sp>
            <p:nvSpPr>
              <p:cNvPr id="6" name="Espace réservé du contenu 2">
                <a:extLst>
                  <a:ext uri="{FF2B5EF4-FFF2-40B4-BE49-F238E27FC236}">
                    <a16:creationId xmlns:a16="http://schemas.microsoft.com/office/drawing/2014/main" id="{8B06FF08-3B64-874F-7DD8-42547CB978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7233" y="2118156"/>
                <a:ext cx="8712865" cy="4015225"/>
              </a:xfrm>
              <a:blipFill>
                <a:blip r:embed="rId3"/>
                <a:stretch>
                  <a:fillRect l="-98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re 1">
            <a:extLst>
              <a:ext uri="{FF2B5EF4-FFF2-40B4-BE49-F238E27FC236}">
                <a16:creationId xmlns:a16="http://schemas.microsoft.com/office/drawing/2014/main" id="{D91B3F13-45F2-FBA0-1BD8-6013D4EC1FFD}"/>
              </a:ext>
            </a:extLst>
          </p:cNvPr>
          <p:cNvSpPr txBox="1">
            <a:spLocks/>
          </p:cNvSpPr>
          <p:nvPr/>
        </p:nvSpPr>
        <p:spPr>
          <a:xfrm>
            <a:off x="8428131" y="140152"/>
            <a:ext cx="3506452" cy="13910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400" i="1" dirty="0">
                <a:solidFill>
                  <a:srgbClr val="FFFFFF"/>
                </a:solidFill>
              </a:rPr>
              <a:t>Sphère de Bloch</a:t>
            </a:r>
          </a:p>
        </p:txBody>
      </p:sp>
      <p:pic>
        <p:nvPicPr>
          <p:cNvPr id="1026" name="Picture 2" descr="Temps Heure D'été D'horloge D'heure D'été Avec La Flèche Rouge Illustration  de Vecteur - Illustration du décalage, commencez: 140650595">
            <a:extLst>
              <a:ext uri="{FF2B5EF4-FFF2-40B4-BE49-F238E27FC236}">
                <a16:creationId xmlns:a16="http://schemas.microsoft.com/office/drawing/2014/main" id="{0B594F99-3816-A2CE-93A8-B0C3DC9CB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3572" y="2608319"/>
            <a:ext cx="2795891" cy="2795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4204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3" name="Rectangle 105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9501C14-7F4D-4D43-AB31-14E1B4AA1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Formalisme mathématique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C59246-61F9-4344-994B-CAC75B954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65A5C87-DF58-40C8-B092-1DE63DB4547E}" type="slidenum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ce réservé du contenu 2">
                <a:extLst>
                  <a:ext uri="{FF2B5EF4-FFF2-40B4-BE49-F238E27FC236}">
                    <a16:creationId xmlns:a16="http://schemas.microsoft.com/office/drawing/2014/main" id="{8B06FF08-3B64-874F-7DD8-42547CB978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7233" y="2118156"/>
                <a:ext cx="7565552" cy="4015225"/>
              </a:xfrm>
            </p:spPr>
            <p:txBody>
              <a:bodyPr vert="horz" lIns="91440" tIns="45720" rIns="91440" bIns="45720" rtlCol="0" anchor="ctr">
                <a:noAutofit/>
              </a:bodyPr>
              <a:lstStyle/>
              <a:p>
                <a:pPr indent="-2286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fr-FR" sz="2400" u="sng" dirty="0"/>
                  <a:t>Sphère de Bloch </a:t>
                </a:r>
                <a:r>
                  <a:rPr lang="fr-FR" sz="2400" i="1" u="sng" dirty="0"/>
                  <a:t>(1946)</a:t>
                </a:r>
                <a:r>
                  <a:rPr lang="fr-FR" sz="2400" i="1" dirty="0"/>
                  <a:t> </a:t>
                </a:r>
                <a:r>
                  <a:rPr lang="fr-FR" sz="1600" i="1" dirty="0"/>
                  <a:t>(prononcé « Block »)</a:t>
                </a:r>
                <a:endParaRPr lang="fr-FR" sz="1600" dirty="0"/>
              </a:p>
              <a:p>
                <a:pPr lvl="1">
                  <a:lnSpc>
                    <a:spcPct val="100000"/>
                  </a:lnSpc>
                  <a:buFont typeface="Arial" panose="020B0604020202020204" pitchFamily="34" charset="0"/>
                  <a:buChar char="-"/>
                </a:pPr>
                <a:r>
                  <a:rPr lang="fr-FR" sz="2000" dirty="0"/>
                  <a:t>Représentation de l’état d’un qubit </a:t>
                </a:r>
                <a:r>
                  <a:rPr lang="fr-FR" sz="2000" b="1" dirty="0"/>
                  <a:t>en coordonnées sphériques</a:t>
                </a:r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dirty="0"/>
                  <a:t>Inspiré de la </a:t>
                </a:r>
                <a:r>
                  <a:rPr lang="fr-FR" sz="1600" b="1" dirty="0"/>
                  <a:t>sphère de Poincaré </a:t>
                </a:r>
                <a:r>
                  <a:rPr lang="fr-FR" sz="1600" i="1" dirty="0"/>
                  <a:t>(1892)</a:t>
                </a:r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b="1" dirty="0"/>
                  <a:t>Par convention</a:t>
                </a:r>
                <a:r>
                  <a:rPr lang="fr-FR" sz="1600" dirty="0"/>
                  <a:t>, le pôle Nord de la sphère correspond à l’état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sz="1600" i="1" dirty="0"/>
                  <a:t> </a:t>
                </a:r>
                <a:r>
                  <a:rPr lang="fr-FR" sz="1600" dirty="0"/>
                  <a:t>et le pôle Sud correspond à l’état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fr-FR" sz="1600" i="1" dirty="0"/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dirty="0"/>
                  <a:t>La probabilité de mesurer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sz="1600" dirty="0"/>
                  <a:t> ou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fr-FR" sz="1600" dirty="0"/>
                  <a:t> s’obtient en projetant le vecteur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fr-FR" sz="1600" dirty="0"/>
                  <a:t> sur l’axe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fr-FR" sz="1600" dirty="0"/>
                  <a:t> de la sphère de Bloch</a:t>
                </a:r>
              </a:p>
              <a:p>
                <a:pPr lvl="1">
                  <a:lnSpc>
                    <a:spcPct val="100000"/>
                  </a:lnSpc>
                  <a:buFont typeface="Arial" panose="020B0604020202020204" pitchFamily="34" charset="0"/>
                  <a:buChar char="-"/>
                </a:pPr>
                <a:r>
                  <a:rPr lang="fr-FR" sz="2000" dirty="0"/>
                  <a:t>Les bases </a:t>
                </a:r>
                <a:r>
                  <a:rPr lang="fr-FR" sz="2000" i="1" dirty="0"/>
                  <a:t>(orthogonales) </a:t>
                </a:r>
                <a:r>
                  <a:rPr lang="fr-FR" sz="2000" dirty="0"/>
                  <a:t>définissant le plan </a:t>
                </a:r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000" b="1" dirty="0"/>
                  <a:t> </a:t>
                </a:r>
                <a:r>
                  <a:rPr lang="fr-FR" sz="2000" dirty="0"/>
                  <a:t>sont</a:t>
                </a:r>
              </a:p>
              <a:p>
                <a:pPr lvl="1">
                  <a:lnSpc>
                    <a:spcPct val="100000"/>
                  </a:lnSpc>
                  <a:buFont typeface="Arial" panose="020B0604020202020204" pitchFamily="34" charset="0"/>
                  <a:buChar char="-"/>
                </a:pPr>
                <a:endParaRPr lang="fr-FR" sz="2000" b="1" dirty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:endParaRPr lang="fr-FR" sz="2000" b="1" dirty="0"/>
              </a:p>
            </p:txBody>
          </p:sp>
        </mc:Choice>
        <mc:Fallback xmlns="">
          <p:sp>
            <p:nvSpPr>
              <p:cNvPr id="6" name="Espace réservé du contenu 2">
                <a:extLst>
                  <a:ext uri="{FF2B5EF4-FFF2-40B4-BE49-F238E27FC236}">
                    <a16:creationId xmlns:a16="http://schemas.microsoft.com/office/drawing/2014/main" id="{8B06FF08-3B64-874F-7DD8-42547CB978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7233" y="2118156"/>
                <a:ext cx="7565552" cy="4015225"/>
              </a:xfrm>
              <a:blipFill>
                <a:blip r:embed="rId3"/>
                <a:stretch>
                  <a:fillRect l="-112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re 1">
            <a:extLst>
              <a:ext uri="{FF2B5EF4-FFF2-40B4-BE49-F238E27FC236}">
                <a16:creationId xmlns:a16="http://schemas.microsoft.com/office/drawing/2014/main" id="{D91B3F13-45F2-FBA0-1BD8-6013D4EC1FFD}"/>
              </a:ext>
            </a:extLst>
          </p:cNvPr>
          <p:cNvSpPr txBox="1">
            <a:spLocks/>
          </p:cNvSpPr>
          <p:nvPr/>
        </p:nvSpPr>
        <p:spPr>
          <a:xfrm>
            <a:off x="8428131" y="140152"/>
            <a:ext cx="3506452" cy="13910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400" i="1" dirty="0">
                <a:solidFill>
                  <a:srgbClr val="FFFFFF"/>
                </a:solidFill>
              </a:rPr>
              <a:t>Sphère de Bloch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39C8D90B-F29A-A918-A06D-DECBA121F148}"/>
                  </a:ext>
                </a:extLst>
              </p:cNvPr>
              <p:cNvSpPr txBox="1"/>
              <p:nvPr/>
            </p:nvSpPr>
            <p:spPr>
              <a:xfrm>
                <a:off x="8319998" y="1933999"/>
                <a:ext cx="3101248" cy="6132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d>
                        <m:dPr>
                          <m:begChr m:val="|"/>
                          <m:endChr m:val="⟩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fr-FR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sSup>
                        <m:s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𝜑</m:t>
                          </m:r>
                        </m:sup>
                      </m:sSup>
                      <m:d>
                        <m:dPr>
                          <m:begChr m:val="|"/>
                          <m:endChr m:val="⟩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39C8D90B-F29A-A918-A06D-DECBA121F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9998" y="1933999"/>
                <a:ext cx="3101248" cy="6132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 6">
            <a:extLst>
              <a:ext uri="{FF2B5EF4-FFF2-40B4-BE49-F238E27FC236}">
                <a16:creationId xmlns:a16="http://schemas.microsoft.com/office/drawing/2014/main" id="{8E332234-963E-2C9B-C0C8-F068C905EF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856" y="2715507"/>
            <a:ext cx="3483533" cy="315444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29B5F44D-7280-9177-752F-072C5D9DF0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2050" y="5122614"/>
            <a:ext cx="3811587" cy="1157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778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3" name="Rectangle 105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9501C14-7F4D-4D43-AB31-14E1B4AA1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Formalisme mathématique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C59246-61F9-4344-994B-CAC75B954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65A5C87-DF58-40C8-B092-1DE63DB4547E}" type="slidenum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ce réservé du contenu 2">
                <a:extLst>
                  <a:ext uri="{FF2B5EF4-FFF2-40B4-BE49-F238E27FC236}">
                    <a16:creationId xmlns:a16="http://schemas.microsoft.com/office/drawing/2014/main" id="{8B06FF08-3B64-874F-7DD8-42547CB978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7233" y="2118156"/>
                <a:ext cx="9765288" cy="4015225"/>
              </a:xfrm>
            </p:spPr>
            <p:txBody>
              <a:bodyPr vert="horz" lIns="91440" tIns="45720" rIns="91440" bIns="45720" rtlCol="0" anchor="ctr">
                <a:noAutofit/>
              </a:bodyPr>
              <a:lstStyle/>
              <a:p>
                <a:pPr indent="-2286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fr-FR" sz="2400" u="sng" dirty="0"/>
                  <a:t>Rappels</a:t>
                </a:r>
                <a:endParaRPr lang="fr-FR" sz="1600" dirty="0"/>
              </a:p>
              <a:p>
                <a:pPr lvl="1">
                  <a:lnSpc>
                    <a:spcPct val="100000"/>
                  </a:lnSpc>
                  <a:buFont typeface="Arial" panose="020B0604020202020204" pitchFamily="34" charset="0"/>
                  <a:buChar char="-"/>
                </a:pPr>
                <a:r>
                  <a:rPr lang="fr-FR" sz="2000" b="1" dirty="0"/>
                  <a:t>Notation générale </a:t>
                </a:r>
                <a:r>
                  <a:rPr lang="fr-FR" sz="2000" dirty="0"/>
                  <a:t>d’un système quantique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fr-FR" sz="2000">
                                    <a:latin typeface="Cambria Math" panose="02040503050406030204" pitchFamily="18" charset="0"/>
                                  </a:rPr>
                                  <m:t>Ψ</m:t>
                                </m:r>
                              </m:e>
                              <m:sub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fr-FR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sz="2000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sSup>
                          <m:sSup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p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</m:nary>
                  </m:oMath>
                </a14:m>
                <a:endParaRPr lang="fr-FR" sz="2000" b="1" dirty="0"/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dirty="0"/>
                  <a:t>Les états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fr-FR" sz="1600" dirty="0"/>
                  <a:t> forment un ensemble </a:t>
                </a:r>
                <a:r>
                  <a:rPr lang="fr-FR" sz="1600" b="1" dirty="0"/>
                  <a:t>d’états de base </a:t>
                </a:r>
                <a:r>
                  <a:rPr lang="fr-FR" sz="1600" i="1" dirty="0"/>
                  <a:t>(ici,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</m:oMath>
                </a14:m>
                <a:r>
                  <a:rPr lang="fr-FR" sz="1600" i="1" dirty="0"/>
                  <a:t> états)</a:t>
                </a:r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dirty="0"/>
                  <a:t>Une somme linéaire </a:t>
                </a:r>
                <a:r>
                  <a:rPr lang="fr-FR" sz="1600" i="1" dirty="0"/>
                  <a:t>(ici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𝛹</m:t>
                                </m:r>
                              </m:e>
                              <m:sub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fr-FR" sz="1600" i="1" dirty="0"/>
                  <a:t>) </a:t>
                </a:r>
                <a:r>
                  <a:rPr lang="fr-FR" sz="1600" dirty="0"/>
                  <a:t>d’états de base est appelée un </a:t>
                </a:r>
                <a:r>
                  <a:rPr lang="fr-FR" sz="1600" b="1" dirty="0"/>
                  <a:t>état pur </a:t>
                </a:r>
              </a:p>
              <a:p>
                <a:pPr lvl="1">
                  <a:lnSpc>
                    <a:spcPct val="100000"/>
                  </a:lnSpc>
                  <a:buFont typeface="Arial" panose="020B0604020202020204" pitchFamily="34" charset="0"/>
                  <a:buChar char="-"/>
                </a:pPr>
                <a:r>
                  <a:rPr lang="fr-FR" sz="2000" b="1" dirty="0"/>
                  <a:t>Propriétés des espaces de Hilbert</a:t>
                </a:r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b="1" dirty="0"/>
                  <a:t>Produit scalaire </a:t>
                </a:r>
                <a:r>
                  <a:rPr lang="fr-FR" sz="1600" i="1" dirty="0"/>
                  <a:t>(</a:t>
                </a:r>
                <a:r>
                  <a:rPr lang="fr-FR" sz="1600" i="1" dirty="0" err="1"/>
                  <a:t>inner</a:t>
                </a:r>
                <a:r>
                  <a:rPr lang="fr-FR" sz="1600" i="1" dirty="0"/>
                  <a:t> </a:t>
                </a:r>
                <a:r>
                  <a:rPr lang="fr-FR" sz="1600" i="1" dirty="0" err="1"/>
                  <a:t>product</a:t>
                </a:r>
                <a:r>
                  <a:rPr lang="fr-FR" sz="1600" i="1" dirty="0"/>
                  <a:t>) 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1600" b="0" i="0" smtClean="0">
                                <a:latin typeface="Cambria Math" panose="02040503050406030204" pitchFamily="18" charset="0"/>
                              </a:rPr>
                              <m:t>Ψ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1600" b="0" i="0" smtClean="0">
                                <a:latin typeface="Cambria Math" panose="02040503050406030204" pitchFamily="18" charset="0"/>
                              </a:rPr>
                              <m:t>Ψ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</m:oMath>
                </a14:m>
                <a:r>
                  <a:rPr lang="fr-FR" sz="2000" dirty="0"/>
                  <a:t> </a:t>
                </a:r>
                <a:r>
                  <a:rPr lang="fr-FR" sz="1600" i="1" dirty="0"/>
                  <a:t>(retourne un scalaire)</a:t>
                </a:r>
                <a:br>
                  <a:rPr lang="fr-FR" sz="2000" dirty="0"/>
                </a:br>
                <a:r>
                  <a:rPr lang="fr-FR" sz="1600" dirty="0"/>
                  <a:t>Pour deux qubits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  <m:r>
                      <a:rPr lang="fr-FR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fr-FR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fr-FR" sz="1600" i="1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r>
                  <a:rPr lang="fr-FR" sz="1600" dirty="0"/>
                  <a:t> et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lang="fr-FR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fr-FR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fr-FR" sz="16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fr-FR" sz="1600" b="1" dirty="0"/>
                  <a:t>, </a:t>
                </a:r>
                <a:r>
                  <a:rPr lang="fr-FR" sz="1600" dirty="0"/>
                  <a:t>on a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fr-FR" sz="1600" i="1" smtClean="0">
                            <a:latin typeface="Cambria Math" panose="02040503050406030204" pitchFamily="18" charset="0"/>
                          </a:rPr>
                          <m:t>†</m:t>
                        </m:r>
                      </m:sup>
                    </m:sSubSup>
                    <m:sSubSup>
                      <m:sSubSup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†</m:t>
                        </m:r>
                      </m:sup>
                    </m:sSubSup>
                    <m:sSubSup>
                      <m:sSubSup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</m:oMath>
                </a14:m>
                <a:r>
                  <a:rPr lang="fr-FR" sz="1600" b="1" dirty="0"/>
                  <a:t> </a:t>
                </a:r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b="1" dirty="0"/>
                  <a:t>Produit extérieur </a:t>
                </a:r>
                <a:r>
                  <a:rPr lang="fr-FR" sz="1600" i="1" dirty="0"/>
                  <a:t>(</a:t>
                </a:r>
                <a:r>
                  <a:rPr lang="fr-FR" sz="1600" i="1" dirty="0" err="1"/>
                  <a:t>outter</a:t>
                </a:r>
                <a:r>
                  <a:rPr lang="fr-FR" sz="1600" i="1" dirty="0"/>
                  <a:t> </a:t>
                </a:r>
                <a:r>
                  <a:rPr lang="fr-FR" sz="1600" i="1" dirty="0" err="1"/>
                  <a:t>product</a:t>
                </a:r>
                <a:r>
                  <a:rPr lang="fr-FR" sz="1600" i="1" dirty="0"/>
                  <a:t>) :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1600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⟩⟨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1600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fr-FR" sz="1600" dirty="0"/>
                  <a:t> </a:t>
                </a:r>
                <a:r>
                  <a:rPr lang="fr-FR" sz="1600" i="1" dirty="0"/>
                  <a:t>(retourne une matrice)</a:t>
                </a:r>
                <a:br>
                  <a:rPr lang="fr-FR" dirty="0"/>
                </a:br>
                <a:r>
                  <a:rPr lang="fr-FR" sz="1600" dirty="0"/>
                  <a:t>Pour deux qubits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  <m:r>
                      <a:rPr lang="fr-FR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fr-FR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fr-FR" sz="1600" i="1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r>
                  <a:rPr lang="fr-FR" sz="1600" dirty="0"/>
                  <a:t> et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lang="fr-FR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fr-FR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fr-FR" sz="1600" b="1" dirty="0"/>
                  <a:t>, </a:t>
                </a:r>
                <a:r>
                  <a:rPr lang="fr-FR" sz="1600" dirty="0"/>
                  <a:t>on a </a:t>
                </a:r>
                <a14:m>
                  <m:oMath xmlns:m="http://schemas.openxmlformats.org/officeDocument/2006/math"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⟩⟨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fr-FR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fr-FR" sz="16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bSup>
                            </m:e>
                            <m:e>
                              <m:sSub>
                                <m:sSub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  <m:sup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  <m:sup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bSup>
                            </m:e>
                            <m:e>
                              <m:sSub>
                                <m:sSub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  <m:sup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6" name="Espace réservé du contenu 2">
                <a:extLst>
                  <a:ext uri="{FF2B5EF4-FFF2-40B4-BE49-F238E27FC236}">
                    <a16:creationId xmlns:a16="http://schemas.microsoft.com/office/drawing/2014/main" id="{8B06FF08-3B64-874F-7DD8-42547CB978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7233" y="2118156"/>
                <a:ext cx="9765288" cy="4015225"/>
              </a:xfrm>
              <a:blipFill>
                <a:blip r:embed="rId3"/>
                <a:stretch>
                  <a:fillRect l="-87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re 1">
            <a:extLst>
              <a:ext uri="{FF2B5EF4-FFF2-40B4-BE49-F238E27FC236}">
                <a16:creationId xmlns:a16="http://schemas.microsoft.com/office/drawing/2014/main" id="{D91B3F13-45F2-FBA0-1BD8-6013D4EC1FFD}"/>
              </a:ext>
            </a:extLst>
          </p:cNvPr>
          <p:cNvSpPr txBox="1">
            <a:spLocks/>
          </p:cNvSpPr>
          <p:nvPr/>
        </p:nvSpPr>
        <p:spPr>
          <a:xfrm>
            <a:off x="8669547" y="140152"/>
            <a:ext cx="3034772" cy="13910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400" i="1" dirty="0">
                <a:solidFill>
                  <a:srgbClr val="FFFFFF"/>
                </a:solidFill>
              </a:rPr>
              <a:t>Matrices de densité et états mixtes</a:t>
            </a:r>
          </a:p>
        </p:txBody>
      </p:sp>
    </p:spTree>
    <p:extLst>
      <p:ext uri="{BB962C8B-B14F-4D97-AF65-F5344CB8AC3E}">
        <p14:creationId xmlns:p14="http://schemas.microsoft.com/office/powerpoint/2010/main" val="4228443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3" name="Rectangle 105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9501C14-7F4D-4D43-AB31-14E1B4AA1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Formalisme mathématique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C59246-61F9-4344-994B-CAC75B954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65A5C87-DF58-40C8-B092-1DE63DB4547E}" type="slidenum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ce réservé du contenu 2">
                <a:extLst>
                  <a:ext uri="{FF2B5EF4-FFF2-40B4-BE49-F238E27FC236}">
                    <a16:creationId xmlns:a16="http://schemas.microsoft.com/office/drawing/2014/main" id="{8B06FF08-3B64-874F-7DD8-42547CB978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7232" y="2118156"/>
                <a:ext cx="7945115" cy="4015225"/>
              </a:xfrm>
            </p:spPr>
            <p:txBody>
              <a:bodyPr vert="horz" lIns="91440" tIns="45720" rIns="91440" bIns="45720" rtlCol="0" anchor="ctr">
                <a:noAutofit/>
              </a:bodyPr>
              <a:lstStyle/>
              <a:p>
                <a:pPr indent="-2286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fr-FR" sz="2400" u="sng" dirty="0"/>
                  <a:t>Matrice de densité</a:t>
                </a:r>
                <a:endParaRPr lang="fr-FR" sz="1600" dirty="0"/>
              </a:p>
              <a:p>
                <a:pPr lvl="1">
                  <a:lnSpc>
                    <a:spcPct val="100000"/>
                  </a:lnSpc>
                  <a:buFont typeface="Arial" panose="020B0604020202020204" pitchFamily="34" charset="0"/>
                  <a:buChar char="-"/>
                </a:pPr>
                <a:r>
                  <a:rPr lang="fr-FR" sz="2000" b="1" dirty="0"/>
                  <a:t>Outil mathématique </a:t>
                </a:r>
                <a:r>
                  <a:rPr lang="fr-FR" sz="2000" dirty="0"/>
                  <a:t>permettant de décrire </a:t>
                </a:r>
                <a:r>
                  <a:rPr lang="fr-FR" sz="2000" b="1" dirty="0"/>
                  <a:t>l’espace des états </a:t>
                </a:r>
                <a:r>
                  <a:rPr lang="fr-FR" sz="2000" dirty="0"/>
                  <a:t>d’un système quantique</a:t>
                </a:r>
              </a:p>
              <a:p>
                <a:pPr lvl="1">
                  <a:lnSpc>
                    <a:spcPct val="100000"/>
                  </a:lnSpc>
                  <a:buFont typeface="Arial" panose="020B0604020202020204" pitchFamily="34" charset="0"/>
                  <a:buChar char="-"/>
                </a:pPr>
                <a:r>
                  <a:rPr lang="fr-FR" sz="2000" b="1" dirty="0"/>
                  <a:t>Dans le cas d’un état pur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fr-FR" sz="2000" b="0" i="0" smtClean="0">
                                <a:latin typeface="Cambria Math" panose="02040503050406030204" pitchFamily="18" charset="0"/>
                              </a:rPr>
                              <m:t>Ψ</m:t>
                            </m:r>
                          </m:e>
                        </m:d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fr-FR" sz="2000" dirty="0"/>
                  <a:t>, on a: </a:t>
                </a:r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=|</m:t>
                    </m:r>
                    <m:r>
                      <m:rPr>
                        <m:sty m:val="p"/>
                      </m:rPr>
                      <a:rPr lang="fr-FR" sz="2000" b="0" i="0" smtClean="0">
                        <a:latin typeface="Cambria Math" panose="02040503050406030204" pitchFamily="18" charset="0"/>
                      </a:rPr>
                      <m:t>Ψ</m:t>
                    </m:r>
                    <m:r>
                      <a:rPr lang="fr-FR" sz="2000" b="0" i="0" smtClean="0">
                        <a:latin typeface="Cambria Math" panose="02040503050406030204" pitchFamily="18" charset="0"/>
                      </a:rPr>
                      <m:t>⟩⟨</m:t>
                    </m:r>
                    <m:r>
                      <m:rPr>
                        <m:sty m:val="p"/>
                      </m:rPr>
                      <a:rPr lang="fr-FR" sz="2000" b="0" i="0" smtClean="0">
                        <a:latin typeface="Cambria Math" panose="02040503050406030204" pitchFamily="18" charset="0"/>
                      </a:rPr>
                      <m:t>Ψ</m:t>
                    </m:r>
                    <m:sSub>
                      <m:sSub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fr-FR" sz="2000" b="1" dirty="0"/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b="1" dirty="0"/>
                  <a:t>Les éléments diagonaux </a:t>
                </a:r>
                <a:r>
                  <a:rPr lang="fr-FR" sz="1600" dirty="0"/>
                  <a:t>de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fr-FR" sz="1600" i="1" dirty="0"/>
                  <a:t> </a:t>
                </a:r>
                <a:r>
                  <a:rPr lang="fr-FR" sz="1600" dirty="0"/>
                  <a:t>correspondent aux probabilités de mesure des états du système </a:t>
                </a:r>
                <a:r>
                  <a:rPr lang="fr-FR" sz="1600" i="1" dirty="0"/>
                  <a:t>(car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fr-FR" sz="1600" i="1" dirty="0"/>
                  <a:t>)</a:t>
                </a:r>
                <a:r>
                  <a:rPr lang="fr-FR" sz="1600" dirty="0"/>
                  <a:t>. On a donc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fr-FR" sz="1600" i="1" dirty="0"/>
                  <a:t>.</a:t>
                </a:r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b="1" dirty="0"/>
                  <a:t>Les éléments hors diagonaux </a:t>
                </a:r>
                <a:r>
                  <a:rPr lang="fr-FR" sz="1600" dirty="0"/>
                  <a:t>de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fr-FR" sz="1600" dirty="0"/>
                  <a:t> correspondent à la </a:t>
                </a:r>
                <a:r>
                  <a:rPr lang="fr-FR" sz="1600" b="1" dirty="0"/>
                  <a:t>cohérence entre deux états du système.</a:t>
                </a:r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dirty="0"/>
                  <a:t>La cohérence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fr-FR" sz="1600" dirty="0"/>
                  <a:t> entre deux états de base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fr-FR" sz="1600" dirty="0"/>
                  <a:t> 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fr-FR" sz="1600" dirty="0"/>
                  <a:t> peut être vue comme la </a:t>
                </a:r>
                <a:r>
                  <a:rPr lang="fr-FR" sz="1600" b="1" dirty="0"/>
                  <a:t>probabilité que le système transitionne spontanément </a:t>
                </a:r>
                <a:r>
                  <a:rPr lang="fr-FR" sz="1600" dirty="0"/>
                  <a:t>de l’état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fr-FR" sz="1600" dirty="0"/>
                  <a:t> vers l’état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fr-FR" sz="1600" dirty="0"/>
                  <a:t>.</a:t>
                </a:r>
              </a:p>
              <a:p>
                <a:pPr lvl="1">
                  <a:lnSpc>
                    <a:spcPct val="100000"/>
                  </a:lnSpc>
                  <a:buFont typeface="Arial" panose="020B0604020202020204" pitchFamily="34" charset="0"/>
                  <a:buChar char="-"/>
                </a:pPr>
                <a:r>
                  <a:rPr lang="fr-FR" sz="2000" dirty="0"/>
                  <a:t>Cet outil caractérise </a:t>
                </a:r>
                <a:r>
                  <a:rPr lang="fr-FR" sz="2000" b="1" dirty="0"/>
                  <a:t>l’instabilité des systèmes quantiques</a:t>
                </a:r>
              </a:p>
            </p:txBody>
          </p:sp>
        </mc:Choice>
        <mc:Fallback xmlns="">
          <p:sp>
            <p:nvSpPr>
              <p:cNvPr id="6" name="Espace réservé du contenu 2">
                <a:extLst>
                  <a:ext uri="{FF2B5EF4-FFF2-40B4-BE49-F238E27FC236}">
                    <a16:creationId xmlns:a16="http://schemas.microsoft.com/office/drawing/2014/main" id="{8B06FF08-3B64-874F-7DD8-42547CB978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7232" y="2118156"/>
                <a:ext cx="7945115" cy="4015225"/>
              </a:xfrm>
              <a:blipFill>
                <a:blip r:embed="rId3"/>
                <a:stretch>
                  <a:fillRect l="-107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re 1">
            <a:extLst>
              <a:ext uri="{FF2B5EF4-FFF2-40B4-BE49-F238E27FC236}">
                <a16:creationId xmlns:a16="http://schemas.microsoft.com/office/drawing/2014/main" id="{D91B3F13-45F2-FBA0-1BD8-6013D4EC1FFD}"/>
              </a:ext>
            </a:extLst>
          </p:cNvPr>
          <p:cNvSpPr txBox="1">
            <a:spLocks/>
          </p:cNvSpPr>
          <p:nvPr/>
        </p:nvSpPr>
        <p:spPr>
          <a:xfrm>
            <a:off x="8669547" y="140152"/>
            <a:ext cx="3034772" cy="13910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400" i="1" dirty="0">
                <a:solidFill>
                  <a:srgbClr val="FFFFFF"/>
                </a:solidFill>
              </a:rPr>
              <a:t>Matrices de densité et états mixtes</a:t>
            </a:r>
          </a:p>
        </p:txBody>
      </p:sp>
      <p:pic>
        <p:nvPicPr>
          <p:cNvPr id="1026" name="Picture 2" descr="Entropy png images | PNGWing">
            <a:extLst>
              <a:ext uri="{FF2B5EF4-FFF2-40B4-BE49-F238E27FC236}">
                <a16:creationId xmlns:a16="http://schemas.microsoft.com/office/drawing/2014/main" id="{0FBE678E-ED08-FADB-D945-A8CD5DDD4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9162" y="4879707"/>
            <a:ext cx="2682815" cy="1718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847CC2D5-90E2-7F03-4B80-7CCF07C121EA}"/>
                  </a:ext>
                </a:extLst>
              </p:cNvPr>
              <p:cNvSpPr txBox="1"/>
              <p:nvPr/>
            </p:nvSpPr>
            <p:spPr>
              <a:xfrm>
                <a:off x="8324491" y="1925972"/>
                <a:ext cx="2876640" cy="778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0" i="0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⟩⟨</m:t>
                      </m:r>
                      <m:sSub>
                        <m:sSub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fr-FR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sz="1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  <m:sup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†</m:t>
                                    </m:r>
                                  </m:sup>
                                </m:sSubSup>
                              </m:e>
                              <m:e>
                                <m:sSub>
                                  <m:sSubPr>
                                    <m:ctrlPr>
                                      <a:rPr lang="fr-FR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fr-FR" sz="18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fr-FR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fr-FR" sz="18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  <m:sup>
                                    <m:r>
                                      <a:rPr lang="fr-FR" sz="1800" i="1">
                                        <a:latin typeface="Cambria Math" panose="02040503050406030204" pitchFamily="18" charset="0"/>
                                      </a:rPr>
                                      <m:t>†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fr-FR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fr-FR" sz="18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fr-FR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18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fr-FR" sz="18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  <m:sup>
                                    <m:r>
                                      <a:rPr lang="fr-FR" sz="1800" i="1">
                                        <a:latin typeface="Cambria Math" panose="02040503050406030204" pitchFamily="18" charset="0"/>
                                      </a:rPr>
                                      <m:t>†</m:t>
                                    </m:r>
                                  </m:sup>
                                </m:sSubSup>
                              </m:e>
                              <m:e>
                                <m:sSub>
                                  <m:sSubPr>
                                    <m:ctrlPr>
                                      <a:rPr lang="fr-FR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fr-FR" sz="18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fr-FR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fr-FR" sz="18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  <m:sup>
                                    <m:r>
                                      <a:rPr lang="fr-FR" sz="1800" i="1">
                                        <a:latin typeface="Cambria Math" panose="02040503050406030204" pitchFamily="18" charset="0"/>
                                      </a:rPr>
                                      <m:t>†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847CC2D5-90E2-7F03-4B80-7CCF07C12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4491" y="1925972"/>
                <a:ext cx="2876640" cy="7789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 descr="Pure, Mixed, and Entangled Quantum States | by Emil Marinov | Medium">
            <a:extLst>
              <a:ext uri="{FF2B5EF4-FFF2-40B4-BE49-F238E27FC236}">
                <a16:creationId xmlns:a16="http://schemas.microsoft.com/office/drawing/2014/main" id="{8E13E960-322A-0559-DE19-8FC6A2F1F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0568" y="3063675"/>
            <a:ext cx="3124200" cy="145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8093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3" name="Rectangle 105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9501C14-7F4D-4D43-AB31-14E1B4AA1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Formalisme mathématique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C59246-61F9-4344-994B-CAC75B954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65A5C87-DF58-40C8-B092-1DE63DB4547E}" type="slidenum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ce réservé du contenu 2">
                <a:extLst>
                  <a:ext uri="{FF2B5EF4-FFF2-40B4-BE49-F238E27FC236}">
                    <a16:creationId xmlns:a16="http://schemas.microsoft.com/office/drawing/2014/main" id="{8B06FF08-3B64-874F-7DD8-42547CB978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7231" y="2118156"/>
                <a:ext cx="8316051" cy="4015225"/>
              </a:xfrm>
            </p:spPr>
            <p:txBody>
              <a:bodyPr vert="horz" lIns="91440" tIns="45720" rIns="91440" bIns="45720" rtlCol="0" anchor="ctr">
                <a:noAutofit/>
              </a:bodyPr>
              <a:lstStyle/>
              <a:p>
                <a:pPr indent="-2286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fr-FR" sz="2400" u="sng" dirty="0"/>
                  <a:t>États mixtes</a:t>
                </a:r>
                <a:endParaRPr lang="fr-FR" sz="1600" dirty="0"/>
              </a:p>
              <a:p>
                <a:pPr lvl="1">
                  <a:lnSpc>
                    <a:spcPct val="100000"/>
                  </a:lnSpc>
                  <a:buFont typeface="Arial" panose="020B0604020202020204" pitchFamily="34" charset="0"/>
                  <a:buChar char="-"/>
                </a:pPr>
                <a:r>
                  <a:rPr lang="fr-FR" sz="2000" b="1" dirty="0"/>
                  <a:t>État pur : </a:t>
                </a:r>
                <a:r>
                  <a:rPr lang="fr-FR" sz="2000" dirty="0"/>
                  <a:t>Combinaison linéaire d’états de base</a:t>
                </a:r>
              </a:p>
              <a:p>
                <a:pPr lvl="1">
                  <a:lnSpc>
                    <a:spcPct val="100000"/>
                  </a:lnSpc>
                  <a:buFont typeface="Arial" panose="020B0604020202020204" pitchFamily="34" charset="0"/>
                  <a:buChar char="-"/>
                </a:pPr>
                <a:r>
                  <a:rPr lang="fr-FR" sz="2000" b="1" dirty="0"/>
                  <a:t>État mixte : </a:t>
                </a:r>
                <a:r>
                  <a:rPr lang="fr-FR" sz="2000" dirty="0"/>
                  <a:t>Distribution statistique d’états purs</a:t>
                </a:r>
                <a:endParaRPr lang="fr-FR" sz="2000" b="1" dirty="0"/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b="1" dirty="0"/>
                  <a:t>Collection de </a:t>
                </a:r>
                <a14:m>
                  <m:oMath xmlns:m="http://schemas.openxmlformats.org/officeDocument/2006/math">
                    <m:r>
                      <a:rPr lang="fr-FR" sz="1600" b="1" i="1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fr-FR" sz="1600" b="1" i="1" dirty="0"/>
                  <a:t> </a:t>
                </a:r>
                <a:r>
                  <a:rPr lang="fr-FR" sz="1600" b="1" dirty="0"/>
                  <a:t>états purs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lang="fr-FR" sz="1600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1600">
                                <a:latin typeface="Cambria Math" panose="02040503050406030204" pitchFamily="18" charset="0"/>
                              </a:rPr>
                              <m:t>Ψ</m:t>
                            </m:r>
                          </m:e>
                          <m: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600" dirty="0"/>
                  <a:t>ayant chacun une probabilité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fr-FR" sz="1600" i="1" dirty="0"/>
                  <a:t> </a:t>
                </a:r>
                <a:r>
                  <a:rPr lang="fr-FR" sz="1600" dirty="0"/>
                  <a:t>d’être </a:t>
                </a:r>
                <a:r>
                  <a:rPr lang="fr-FR" sz="1600" b="1" dirty="0"/>
                  <a:t>préparés</a:t>
                </a:r>
                <a:endParaRPr lang="fr-FR" sz="1600" b="1" i="1" dirty="0"/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b="1" dirty="0"/>
                  <a:t>Notation formelle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{"/>
                                <m:endChr m:val="⟩"/>
                                <m:ctrl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fr-F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6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fr-FR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fr-F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1600">
                                        <a:latin typeface="Cambria Math" panose="02040503050406030204" pitchFamily="18" charset="0"/>
                                      </a:rPr>
                                      <m:t>Ψ</m:t>
                                    </m:r>
                                  </m:e>
                                  <m:sub>
                                    <m:r>
                                      <a:rPr lang="fr-FR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∈{1, …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sub>
                    </m:sSub>
                  </m:oMath>
                </a14:m>
                <a:r>
                  <a:rPr lang="fr-FR" sz="1600" b="0" i="0" dirty="0">
                    <a:latin typeface="+mj-lt"/>
                  </a:rPr>
                  <a:t> </a:t>
                </a:r>
                <a:r>
                  <a:rPr lang="fr-FR" sz="1600" b="0" i="0" dirty="0"/>
                  <a:t>avec</a:t>
                </a:r>
                <a:r>
                  <a:rPr lang="fr-FR" sz="1600" b="0" i="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fr-F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fr-FR" sz="1600" dirty="0"/>
              </a:p>
              <a:p>
                <a:pPr lvl="1">
                  <a:lnSpc>
                    <a:spcPct val="100000"/>
                  </a:lnSpc>
                  <a:buFont typeface="Arial" panose="020B0604020202020204" pitchFamily="34" charset="0"/>
                  <a:buChar char="-"/>
                </a:pPr>
                <a:r>
                  <a:rPr lang="fr-FR" sz="2000" b="1" dirty="0"/>
                  <a:t>Matrice de densité d’un état mixte</a:t>
                </a:r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dirty="0"/>
                  <a:t>On ne peut exprimer un état mixte </a:t>
                </a:r>
                <a:r>
                  <a:rPr lang="fr-FR" sz="1600" b="1" dirty="0"/>
                  <a:t>qu’à partir de sa matrice de densité</a:t>
                </a:r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b="1" dirty="0"/>
                  <a:t>On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1600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⟩⟨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1600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fr-FR" sz="1600" dirty="0"/>
              </a:p>
              <a:p>
                <a:pPr lvl="2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fr-FR" sz="1600" dirty="0"/>
                  <a:t>Quand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</m:oMath>
                </a14:m>
                <a:r>
                  <a:rPr lang="fr-FR" sz="1600" dirty="0"/>
                  <a:t> 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p>
                      </m:den>
                    </m:f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 ∀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fr-FR" sz="1600" dirty="0"/>
                  <a:t>, on parle </a:t>
                </a:r>
                <a:r>
                  <a:rPr lang="fr-FR" sz="1600" b="1" dirty="0"/>
                  <a:t>d’état complètement mixé </a:t>
                </a:r>
                <a:r>
                  <a:rPr lang="fr-FR" sz="1600" i="1" dirty="0"/>
                  <a:t>(maximally mixed state). </a:t>
                </a:r>
                <a:r>
                  <a:rPr lang="fr-FR" sz="1600" dirty="0"/>
                  <a:t>Pour un tel état, on a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p>
                      </m:den>
                    </m:f>
                  </m:oMath>
                </a14:m>
                <a:r>
                  <a:rPr lang="fr-FR" sz="1600" dirty="0"/>
                  <a:t> avec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fr-FR" sz="1600" dirty="0"/>
                  <a:t> la matrice identité de taille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</m:oMath>
                </a14:m>
                <a:endParaRPr lang="fr-FR" sz="1600" dirty="0"/>
              </a:p>
            </p:txBody>
          </p:sp>
        </mc:Choice>
        <mc:Fallback xmlns="">
          <p:sp>
            <p:nvSpPr>
              <p:cNvPr id="6" name="Espace réservé du contenu 2">
                <a:extLst>
                  <a:ext uri="{FF2B5EF4-FFF2-40B4-BE49-F238E27FC236}">
                    <a16:creationId xmlns:a16="http://schemas.microsoft.com/office/drawing/2014/main" id="{8B06FF08-3B64-874F-7DD8-42547CB978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7231" y="2118156"/>
                <a:ext cx="8316051" cy="4015225"/>
              </a:xfrm>
              <a:blipFill>
                <a:blip r:embed="rId3"/>
                <a:stretch>
                  <a:fillRect l="-1026" r="-22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re 1">
            <a:extLst>
              <a:ext uri="{FF2B5EF4-FFF2-40B4-BE49-F238E27FC236}">
                <a16:creationId xmlns:a16="http://schemas.microsoft.com/office/drawing/2014/main" id="{D91B3F13-45F2-FBA0-1BD8-6013D4EC1FFD}"/>
              </a:ext>
            </a:extLst>
          </p:cNvPr>
          <p:cNvSpPr txBox="1">
            <a:spLocks/>
          </p:cNvSpPr>
          <p:nvPr/>
        </p:nvSpPr>
        <p:spPr>
          <a:xfrm>
            <a:off x="8669547" y="140152"/>
            <a:ext cx="3034772" cy="13910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400" i="1" dirty="0">
                <a:solidFill>
                  <a:srgbClr val="FFFFFF"/>
                </a:solidFill>
              </a:rPr>
              <a:t>Matrices de densité et états mixtes</a:t>
            </a:r>
          </a:p>
        </p:txBody>
      </p:sp>
      <p:pic>
        <p:nvPicPr>
          <p:cNvPr id="2052" name="Picture 4" descr="Skeptic's Play: Quantum superposition">
            <a:extLst>
              <a:ext uri="{FF2B5EF4-FFF2-40B4-BE49-F238E27FC236}">
                <a16:creationId xmlns:a16="http://schemas.microsoft.com/office/drawing/2014/main" id="{B603AD06-34D7-8089-0394-ACEAA3046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3282" y="3295195"/>
            <a:ext cx="3257961" cy="1841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9899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90D7697-8E53-4EA8-8CBB-9C19575257B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DF0A252-5923-47A2-A53A-F9BF729089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927DC71-2909-427C-BDB0-3E47E210151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1612</Words>
  <Application>Microsoft Office PowerPoint</Application>
  <PresentationFormat>Grand écran</PresentationFormat>
  <Paragraphs>187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Segoe UI</vt:lpstr>
      <vt:lpstr>Wingdings</vt:lpstr>
      <vt:lpstr>Thème Office</vt:lpstr>
      <vt:lpstr>1_Thème Office</vt:lpstr>
      <vt:lpstr>Théorie de l’information quantique</vt:lpstr>
      <vt:lpstr>Sommaire</vt:lpstr>
      <vt:lpstr>Formalisme mathématique</vt:lpstr>
      <vt:lpstr>Formalisme mathématique</vt:lpstr>
      <vt:lpstr>Formalisme mathématique</vt:lpstr>
      <vt:lpstr>Formalisme mathématique</vt:lpstr>
      <vt:lpstr>Formalisme mathématique</vt:lpstr>
      <vt:lpstr>Formalisme mathématique</vt:lpstr>
      <vt:lpstr>Formalisme mathématique</vt:lpstr>
      <vt:lpstr>Formalisme mathématique</vt:lpstr>
      <vt:lpstr>Formalisme mathématique</vt:lpstr>
      <vt:lpstr>Formalisme mathématique</vt:lpstr>
      <vt:lpstr>Formalisme mathématique</vt:lpstr>
      <vt:lpstr>Formalisme mathématique</vt:lpstr>
      <vt:lpstr>Formalisme mathématique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Hardware Quantique</dc:title>
  <dc:creator>Timothé PRESLES</dc:creator>
  <cp:lastModifiedBy>Timothe Presles</cp:lastModifiedBy>
  <cp:revision>5</cp:revision>
  <dcterms:created xsi:type="dcterms:W3CDTF">2022-08-20T15:13:59Z</dcterms:created>
  <dcterms:modified xsi:type="dcterms:W3CDTF">2025-11-10T10:03:47Z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